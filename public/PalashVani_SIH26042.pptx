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B23A2E"/>
    <a:srgbClr val="0B2E27"/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4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Schools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C9186"/>
              </a:solidFill>
            </c:spPr>
            <c:extLst>
              <c:ext xmlns:c16="http://schemas.microsoft.com/office/drawing/2014/chart" uri="{C3380CC4-5D6E-409C-BE32-E72D297353CC}">
                <c16:uniqueId val="{00000001-EFCB-4A13-83D8-FC1879D1072C}"/>
              </c:ext>
            </c:extLst>
          </c:dPt>
          <c:dPt>
            <c:idx val="1"/>
            <c:invertIfNegative val="1"/>
            <c:bubble3D val="0"/>
            <c:spPr>
              <a:solidFill>
                <a:srgbClr val="2E8B87"/>
              </a:solidFill>
            </c:spPr>
            <c:extLst>
              <c:ext xmlns:c16="http://schemas.microsoft.com/office/drawing/2014/chart" uri="{C3380CC4-5D6E-409C-BE32-E72D297353CC}">
                <c16:uniqueId val="{00000003-EFCB-4A13-83D8-FC1879D1072C}"/>
              </c:ext>
            </c:extLst>
          </c:dPt>
          <c:dPt>
            <c:idx val="2"/>
            <c:invertIfNegative val="1"/>
            <c:bubble3D val="0"/>
            <c:spPr>
              <a:solidFill>
                <a:srgbClr val="F2570A"/>
              </a:solidFill>
            </c:spPr>
            <c:extLst>
              <c:ext xmlns:c16="http://schemas.microsoft.com/office/drawing/2014/chart" uri="{C3380CC4-5D6E-409C-BE32-E72D297353CC}">
                <c16:uniqueId val="{00000005-EFCB-4A13-83D8-FC1879D107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0B2E27"/>
                    </a:solidFill>
                    <a:latin typeface="Cambr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PALASH pilot</c:v>
                </c:pt>
                <c:pt idx="1">
                  <c:v>PALASH today</c:v>
                </c:pt>
                <c:pt idx="2">
                  <c:v>Addressable
(PS 26042)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259</c:v>
                </c:pt>
                <c:pt idx="1">
                  <c:v>1041</c:v>
                </c:pt>
                <c:pt idx="2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CB-4A13-83D8-FC1879D107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E5E1DA"/>
            </a:solidFill>
          </a:ln>
        </c:spPr>
        <c:txPr>
          <a:bodyPr/>
          <a:lstStyle/>
          <a:p>
            <a:pPr>
              <a:defRPr sz="800">
                <a:solidFill>
                  <a:srgbClr val="5E6B65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3.png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24" Type="http://schemas.openxmlformats.org/officeDocument/2006/relationships/image" Target="../media/image30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29.png"/><Relationship Id="rId10" Type="http://schemas.openxmlformats.org/officeDocument/2006/relationships/image" Target="../media/image19.png"/><Relationship Id="rId19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2.png"/><Relationship Id="rId22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12.png"/><Relationship Id="rId5" Type="http://schemas.openxmlformats.org/officeDocument/2006/relationships/image" Target="../media/image32.png"/><Relationship Id="rId10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32.png"/><Relationship Id="rId5" Type="http://schemas.openxmlformats.org/officeDocument/2006/relationships/image" Target="../media/image37.png"/><Relationship Id="rId15" Type="http://schemas.openxmlformats.org/officeDocument/2006/relationships/image" Target="../media/image12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3.png"/><Relationship Id="rId1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12" Type="http://schemas.openxmlformats.org/officeDocument/2006/relationships/image" Target="../media/image47.png"/><Relationship Id="rId17" Type="http://schemas.openxmlformats.org/officeDocument/2006/relationships/hyperlink" Target="https://palashvani-sih26042-admin.vercel.app/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palashvani-sih26042.vercel.app/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.png"/><Relationship Id="rId5" Type="http://schemas.openxmlformats.org/officeDocument/2006/relationships/image" Target="../media/image44.png"/><Relationship Id="rId15" Type="http://schemas.openxmlformats.org/officeDocument/2006/relationships/image" Target="../media/image9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27.png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hyperlink" Target="https://palashvani-sih26042-admin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lashvani-sih26042.vercel.app/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49129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118" y="1358693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SIH26042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Al-Powered Vernacular Pedagogy and Real-Time Translation Tool for Mother Tongue-Based Primary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SHROT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26F8FDC-F137-BF23-F2A3-69F210B9D4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F70D40C4-E43C-8E1A-7235-DB9FD94AA967}"/>
              </a:ext>
            </a:extLst>
          </p:cNvPr>
          <p:cNvSpPr/>
          <p:nvPr/>
        </p:nvSpPr>
        <p:spPr>
          <a:xfrm>
            <a:off x="411480" y="1152144"/>
            <a:ext cx="11365992" cy="493776"/>
          </a:xfrm>
          <a:prstGeom prst="roundRect">
            <a:avLst>
              <a:gd name="adj" fmla="val 16666"/>
            </a:avLst>
          </a:prstGeom>
          <a:solidFill>
            <a:srgbClr val="F1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711B4C-307C-BD36-BB10-E8A1EA5B6D36}"/>
              </a:ext>
            </a:extLst>
          </p:cNvPr>
          <p:cNvSpPr txBox="1"/>
          <p:nvPr/>
        </p:nvSpPr>
        <p:spPr>
          <a:xfrm>
            <a:off x="1185731" y="1183362"/>
            <a:ext cx="4749257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42900" indent="-342900" algn="l">
              <a:buFontTx/>
              <a:buChar char="-"/>
            </a:pPr>
            <a:r>
              <a:rPr sz="900" b="1" i="0" u="none" kern="0" spc="60" dirty="0">
                <a:solidFill>
                  <a:srgbClr val="0B2E27"/>
                </a:solidFill>
                <a:latin typeface="+mn-lt"/>
                <a:ea typeface="Calibri"/>
                <a:cs typeface="Calibri"/>
              </a:rPr>
              <a:t>PS 26042 </a:t>
            </a:r>
            <a:endParaRPr lang="en-IN" sz="900" b="1" kern="0" spc="60" dirty="0">
              <a:solidFill>
                <a:srgbClr val="0B2E27"/>
              </a:solidFill>
              <a:latin typeface="+mn-lt"/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</a:pPr>
            <a:r>
              <a:rPr sz="900" b="1" i="0" u="none" kern="0" spc="60" dirty="0">
                <a:solidFill>
                  <a:srgbClr val="0B2E27"/>
                </a:solidFill>
                <a:latin typeface="+mn-lt"/>
                <a:ea typeface="Calibri"/>
                <a:cs typeface="Calibri"/>
              </a:rPr>
              <a:t>SOFTWARE</a:t>
            </a:r>
            <a:endParaRPr lang="en-IN" sz="900" b="1" i="0" u="none" kern="0" spc="60" dirty="0">
              <a:solidFill>
                <a:srgbClr val="0B2E27"/>
              </a:solidFill>
              <a:latin typeface="+mn-lt"/>
              <a:ea typeface="Calibri"/>
              <a:cs typeface="Calibri"/>
            </a:endParaRPr>
          </a:p>
          <a:p>
            <a:pPr marL="342900" indent="-342900">
              <a:buFontTx/>
              <a:buChar char="-"/>
            </a:pPr>
            <a:r>
              <a:rPr lang="en-IN" sz="900" b="1" kern="0" spc="60" dirty="0">
                <a:solidFill>
                  <a:srgbClr val="0B2E27"/>
                </a:solidFill>
                <a:latin typeface="+mn-lt"/>
                <a:ea typeface="Calibri"/>
                <a:cs typeface="Calibri"/>
              </a:rPr>
              <a:t>SMART EDUCATION</a:t>
            </a:r>
          </a:p>
          <a:p>
            <a:pPr marL="342900" indent="-342900" algn="l">
              <a:buFontTx/>
              <a:buChar char="-"/>
            </a:pPr>
            <a:endParaRPr sz="900" b="1" i="0" u="none" kern="0" spc="60" dirty="0">
              <a:solidFill>
                <a:srgbClr val="0B2E27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7F75B6-2BF7-56BD-BED6-E3D2CC1045BD}"/>
              </a:ext>
            </a:extLst>
          </p:cNvPr>
          <p:cNvSpPr/>
          <p:nvPr/>
        </p:nvSpPr>
        <p:spPr>
          <a:xfrm>
            <a:off x="2889504" y="1243584"/>
            <a:ext cx="8229" cy="310896"/>
          </a:xfrm>
          <a:prstGeom prst="rect">
            <a:avLst/>
          </a:prstGeom>
          <a:solidFill>
            <a:srgbClr val="2C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4A89AA-AC16-24AE-EFE2-6297912A2FC6}"/>
              </a:ext>
            </a:extLst>
          </p:cNvPr>
          <p:cNvSpPr txBox="1"/>
          <p:nvPr/>
        </p:nvSpPr>
        <p:spPr>
          <a:xfrm>
            <a:off x="3072384" y="1237449"/>
            <a:ext cx="8613648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050" i="1" dirty="0">
                <a:solidFill>
                  <a:srgbClr val="0B2E27"/>
                </a:solidFill>
              </a:rPr>
              <a:t>A hybrid Hindi↔Mundari translation system with verified-first matching, semantic AI, and honest confidence flags — text, Hindi-script pronunciation and AI-synthesized audio — plus real-time voice translation and </a:t>
            </a:r>
            <a:r>
              <a:rPr lang="en-IN" sz="1050" i="1" dirty="0">
                <a:solidFill>
                  <a:schemeClr val="accent6">
                    <a:lumMod val="75000"/>
                  </a:schemeClr>
                </a:solidFill>
              </a:rPr>
              <a:t>AI Scan &amp; Translate </a:t>
            </a:r>
            <a:r>
              <a:rPr lang="en-IN" sz="1050" i="1" dirty="0">
                <a:solidFill>
                  <a:srgbClr val="0B2E27"/>
                </a:solidFill>
              </a:rPr>
              <a:t>with clear verification flags.</a:t>
            </a:r>
            <a:endParaRPr lang="en-IN" sz="1050" i="1" u="none" kern="0" dirty="0">
              <a:solidFill>
                <a:srgbClr val="0B2E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A7A5A131-2538-62F8-DB12-759CE6255AD4}"/>
              </a:ext>
            </a:extLst>
          </p:cNvPr>
          <p:cNvSpPr/>
          <p:nvPr/>
        </p:nvSpPr>
        <p:spPr>
          <a:xfrm>
            <a:off x="411480" y="1737359"/>
            <a:ext cx="3709446" cy="2244463"/>
          </a:xfrm>
          <a:prstGeom prst="roundRect">
            <a:avLst>
              <a:gd name="adj" fmla="val 3781"/>
            </a:avLst>
          </a:prstGeom>
          <a:solidFill>
            <a:srgbClr val="EAF1EE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AABEF7-2355-5918-EFB6-E0949829FD88}"/>
              </a:ext>
            </a:extLst>
          </p:cNvPr>
          <p:cNvSpPr/>
          <p:nvPr/>
        </p:nvSpPr>
        <p:spPr>
          <a:xfrm>
            <a:off x="594360" y="1901952"/>
            <a:ext cx="384048" cy="384048"/>
          </a:xfrm>
          <a:prstGeom prst="ellipse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9bfac9a7.png">
            <a:extLst>
              <a:ext uri="{FF2B5EF4-FFF2-40B4-BE49-F238E27FC236}">
                <a16:creationId xmlns:a16="http://schemas.microsoft.com/office/drawing/2014/main" id="{A386D708-2CC3-F625-2B93-B51762599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26" y="1955718"/>
            <a:ext cx="276514" cy="2765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B0C0574-16C1-0D36-FEC6-EBE0A9191F16}"/>
              </a:ext>
            </a:extLst>
          </p:cNvPr>
          <p:cNvSpPr txBox="1"/>
          <p:nvPr/>
        </p:nvSpPr>
        <p:spPr>
          <a:xfrm>
            <a:off x="1069848" y="1920240"/>
            <a:ext cx="286819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60" b="1" i="0" u="none" kern="0" spc="10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PART A  ·  THE VERIFIED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E35AC4-4B73-78E2-E434-6F10674D8CAF}"/>
              </a:ext>
            </a:extLst>
          </p:cNvPr>
          <p:cNvSpPr txBox="1"/>
          <p:nvPr/>
        </p:nvSpPr>
        <p:spPr>
          <a:xfrm>
            <a:off x="1069848" y="2083456"/>
            <a:ext cx="2868198" cy="2410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 i="0" u="none" kern="0" dirty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Offline Curriculum Library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FC7B94-C97A-9AC5-471E-D5DA88F41DDD}"/>
              </a:ext>
            </a:extLst>
          </p:cNvPr>
          <p:cNvSpPr txBox="1"/>
          <p:nvPr/>
        </p:nvSpPr>
        <p:spPr>
          <a:xfrm>
            <a:off x="537824" y="2296031"/>
            <a:ext cx="3567370" cy="1671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32588" indent="-132588">
              <a:spcAft>
                <a:spcPts val="320"/>
              </a:spcAft>
              <a:buClr>
                <a:srgbClr val="0B2E27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JCERT-aligned structure </a:t>
            </a:r>
            <a:r>
              <a:rPr lang="en-IN" sz="1000" dirty="0"/>
              <a:t>— Grade → Subject → Chapter, based on available Jharkhand curriculum sources.</a:t>
            </a:r>
            <a:endParaRPr sz="93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 marL="132588" indent="-132588">
              <a:spcAft>
                <a:spcPts val="320"/>
              </a:spcAft>
              <a:buClr>
                <a:srgbClr val="0B2E27"/>
              </a:buClr>
              <a:buSzPct val="90000"/>
              <a:buFont typeface="Arial" pitchFamily="34" charset="0"/>
              <a:buChar char="•"/>
            </a:pPr>
            <a:r>
              <a:rPr sz="95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Four layers per unit</a:t>
            </a:r>
            <a:r>
              <a:rPr lang="en-IN" sz="95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1000" dirty="0"/>
              <a:t>— Hindi text → tribal-language text → Hindi-script pronunciation → AI-synthesized audio.</a:t>
            </a:r>
            <a:endParaRPr sz="93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 marL="132588" indent="-132588">
              <a:spcAft>
                <a:spcPts val="320"/>
              </a:spcAft>
              <a:buClr>
                <a:srgbClr val="0B2E27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AI-synthesized TTS audio </a:t>
            </a:r>
            <a:r>
              <a:rPr lang="en-IN" sz="1000" dirty="0"/>
              <a:t>— generated from the selected tribal-language text.</a:t>
            </a:r>
          </a:p>
          <a:p>
            <a:pPr marL="132588" indent="-132588">
              <a:spcAft>
                <a:spcPts val="320"/>
              </a:spcAft>
              <a:buClr>
                <a:srgbClr val="0B2E27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Rights-aware sources </a:t>
            </a:r>
            <a:r>
              <a:rPr lang="en-IN" sz="1000" dirty="0"/>
              <a:t>— official curricula, licensed research, and open educational content with tracked asset attribution.</a:t>
            </a:r>
          </a:p>
          <a:p>
            <a:pPr marL="132588" indent="-132588">
              <a:spcAft>
                <a:spcPts val="320"/>
              </a:spcAft>
              <a:buClr>
                <a:srgbClr val="0B2E27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Offline after one sync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— PWA + service worker, per-chapter content packs.</a:t>
            </a:r>
          </a:p>
        </p:txBody>
      </p:sp>
      <p:sp>
        <p:nvSpPr>
          <p:cNvPr id="30" name="Rounded Rectangle 18">
            <a:extLst>
              <a:ext uri="{FF2B5EF4-FFF2-40B4-BE49-F238E27FC236}">
                <a16:creationId xmlns:a16="http://schemas.microsoft.com/office/drawing/2014/main" id="{6DDE5036-A6B1-24EF-2322-3ECC8A0A20D5}"/>
              </a:ext>
            </a:extLst>
          </p:cNvPr>
          <p:cNvSpPr/>
          <p:nvPr/>
        </p:nvSpPr>
        <p:spPr>
          <a:xfrm>
            <a:off x="4239798" y="1737359"/>
            <a:ext cx="3709446" cy="2237169"/>
          </a:xfrm>
          <a:prstGeom prst="roundRect">
            <a:avLst>
              <a:gd name="adj" fmla="val 3781"/>
            </a:avLst>
          </a:prstGeom>
          <a:solidFill>
            <a:srgbClr val="FDEDE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6EE528-0509-3C2B-9DF5-3C4145962F27}"/>
              </a:ext>
            </a:extLst>
          </p:cNvPr>
          <p:cNvSpPr/>
          <p:nvPr/>
        </p:nvSpPr>
        <p:spPr>
          <a:xfrm>
            <a:off x="4422678" y="1901952"/>
            <a:ext cx="384048" cy="384048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d17b62e8.png">
            <a:extLst>
              <a:ext uri="{FF2B5EF4-FFF2-40B4-BE49-F238E27FC236}">
                <a16:creationId xmlns:a16="http://schemas.microsoft.com/office/drawing/2014/main" id="{E4CF9831-D704-9091-929B-4CA38FC18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445" y="1955718"/>
            <a:ext cx="276514" cy="2765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0CAF246-6E3F-3D0C-00F0-0249877987EC}"/>
              </a:ext>
            </a:extLst>
          </p:cNvPr>
          <p:cNvSpPr txBox="1"/>
          <p:nvPr/>
        </p:nvSpPr>
        <p:spPr>
          <a:xfrm>
            <a:off x="4898166" y="1920240"/>
            <a:ext cx="286819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60" b="1" i="0" u="none" kern="0" spc="10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PART B  ·  THE GENUINE AI CORE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04C6A1-F816-5D88-BA64-B5DB3DFF7CE5}"/>
              </a:ext>
            </a:extLst>
          </p:cNvPr>
          <p:cNvSpPr txBox="1"/>
          <p:nvPr/>
        </p:nvSpPr>
        <p:spPr>
          <a:xfrm>
            <a:off x="4898166" y="2103120"/>
            <a:ext cx="2868198" cy="2410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AI Scan &amp; Translate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57E7C3-75D4-57B0-4FFE-40C2918CB0EC}"/>
              </a:ext>
            </a:extLst>
          </p:cNvPr>
          <p:cNvSpPr txBox="1"/>
          <p:nvPr/>
        </p:nvSpPr>
        <p:spPr>
          <a:xfrm>
            <a:off x="4403014" y="2414015"/>
            <a:ext cx="3462558" cy="1534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32588" indent="-132588" algn="l">
              <a:lnSpc>
                <a:spcPct val="92000"/>
              </a:lnSpc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Point the camera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at any Hindi or tribal-script textbook page.</a:t>
            </a:r>
          </a:p>
          <a:p>
            <a:pPr marL="132588" indent="-132588" algn="l">
              <a:lnSpc>
                <a:spcPct val="92000"/>
              </a:lnSpc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OCR extracts the text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— Google ML Kit / Tesseract, low-end Android.</a:t>
            </a:r>
          </a:p>
          <a:p>
            <a:pPr marL="132588" indent="-132588"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Verified index first </a:t>
            </a:r>
            <a:r>
              <a:rPr lang="en-IN" sz="1000" dirty="0"/>
              <a:t>— semantic search returns source-linked text + synthesized audio.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32588" indent="-132588" algn="l">
              <a:lnSpc>
                <a:spcPct val="92000"/>
              </a:lnSpc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Bhashini fills the gap</a:t>
            </a:r>
            <a:r>
              <a:rPr sz="930" b="0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— live NMT/TTS only when no match exists.</a:t>
            </a:r>
          </a:p>
          <a:p>
            <a:pPr marL="132588" indent="-132588" algn="l">
              <a:lnSpc>
                <a:spcPct val="92000"/>
              </a:lnSpc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Confidence Flag</a:t>
            </a:r>
            <a:r>
              <a:rPr sz="930" b="0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— unverified output is marked ⚠ AI-generated.</a:t>
            </a:r>
            <a:endParaRPr lang="en-IN" sz="93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 marL="132588" indent="-132588"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Camera → OCR → language detection → verified semantic retrieval → translation/TTS fallback → confidence flag</a:t>
            </a:r>
          </a:p>
          <a:p>
            <a:pPr marL="132588" indent="-132588">
              <a:spcAft>
                <a:spcPts val="32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Target latency</a:t>
            </a:r>
            <a:r>
              <a:rPr lang="en-IN" sz="1000" b="1" dirty="0">
                <a:solidFill>
                  <a:schemeClr val="tx2">
                    <a:lumMod val="50000"/>
                  </a:schemeClr>
                </a:solidFill>
              </a:rPr>
              <a:t>: </a:t>
            </a:r>
            <a:r>
              <a:rPr lang="en-IN" sz="1050" b="1" i="1" dirty="0">
                <a:solidFill>
                  <a:schemeClr val="tx2">
                    <a:lumMod val="50000"/>
                  </a:schemeClr>
                </a:solidFill>
              </a:rPr>
              <a:t>≤ 3 seconds</a:t>
            </a:r>
            <a:endParaRPr sz="1050" b="1" i="1" u="none" kern="0" dirty="0">
              <a:solidFill>
                <a:schemeClr val="tx2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Rounded Rectangle 24">
            <a:extLst>
              <a:ext uri="{FF2B5EF4-FFF2-40B4-BE49-F238E27FC236}">
                <a16:creationId xmlns:a16="http://schemas.microsoft.com/office/drawing/2014/main" id="{C167BB76-9870-1E43-0FE4-5712B89D8AC9}"/>
              </a:ext>
            </a:extLst>
          </p:cNvPr>
          <p:cNvSpPr/>
          <p:nvPr/>
        </p:nvSpPr>
        <p:spPr>
          <a:xfrm>
            <a:off x="8068116" y="1737360"/>
            <a:ext cx="3709446" cy="2244462"/>
          </a:xfrm>
          <a:prstGeom prst="roundRect">
            <a:avLst>
              <a:gd name="adj" fmla="val 3781"/>
            </a:avLst>
          </a:prstGeom>
          <a:solidFill>
            <a:srgbClr val="FBF1DF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DC384E5-AE1D-426B-B04E-1F4364F653BC}"/>
              </a:ext>
            </a:extLst>
          </p:cNvPr>
          <p:cNvSpPr/>
          <p:nvPr/>
        </p:nvSpPr>
        <p:spPr>
          <a:xfrm>
            <a:off x="8250996" y="1901952"/>
            <a:ext cx="384048" cy="384048"/>
          </a:xfrm>
          <a:prstGeom prst="ellipse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3686faf8.png">
            <a:extLst>
              <a:ext uri="{FF2B5EF4-FFF2-40B4-BE49-F238E27FC236}">
                <a16:creationId xmlns:a16="http://schemas.microsoft.com/office/drawing/2014/main" id="{00903255-C77C-8A42-71C8-6C7BEFB984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763" y="1955718"/>
            <a:ext cx="276514" cy="27651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4CD8A36-570C-05D2-E76C-C1A4011543D7}"/>
              </a:ext>
            </a:extLst>
          </p:cNvPr>
          <p:cNvSpPr txBox="1"/>
          <p:nvPr/>
        </p:nvSpPr>
        <p:spPr>
          <a:xfrm>
            <a:off x="8726484" y="1920240"/>
            <a:ext cx="286819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60" b="1" i="0" u="none" kern="0" spc="100">
                <a:solidFill>
                  <a:srgbClr val="C8912E"/>
                </a:solidFill>
                <a:latin typeface="Calibri"/>
                <a:ea typeface="Calibri"/>
                <a:cs typeface="Calibri"/>
              </a:rPr>
              <a:t>WHY IT'S DIFFERENT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0D36EA-AA36-17CF-B777-66CD89B595DC}"/>
              </a:ext>
            </a:extLst>
          </p:cNvPr>
          <p:cNvSpPr txBox="1"/>
          <p:nvPr/>
        </p:nvSpPr>
        <p:spPr>
          <a:xfrm>
            <a:off x="8726484" y="2103120"/>
            <a:ext cx="2868198" cy="2410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Innovation &amp; Uniqueness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BF3957-4639-FE8C-A714-DDD9896F1847}"/>
              </a:ext>
            </a:extLst>
          </p:cNvPr>
          <p:cNvSpPr txBox="1"/>
          <p:nvPr/>
        </p:nvSpPr>
        <p:spPr>
          <a:xfrm>
            <a:off x="8142843" y="2345191"/>
            <a:ext cx="3645348" cy="158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32588" indent="-132588">
              <a:spcAft>
                <a:spcPts val="320"/>
              </a:spcAft>
              <a:buClr>
                <a:srgbClr val="C8912E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Real research/licensed resources </a:t>
            </a:r>
            <a:r>
              <a:rPr lang="en-IN" sz="1000" dirty="0"/>
              <a:t>— 97,826 sourced Hindi–tribal sentence pairs, used for translation support and semantic retrieval.</a:t>
            </a:r>
          </a:p>
          <a:p>
            <a:pPr marL="132588" indent="-132588">
              <a:spcAft>
                <a:spcPts val="320"/>
              </a:spcAft>
              <a:buClr>
                <a:srgbClr val="C8912E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Honesty as a feature</a:t>
            </a:r>
            <a:r>
              <a:rPr sz="930" b="0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— the Confidence Flag is our strongest card with a govt jury.</a:t>
            </a:r>
          </a:p>
          <a:p>
            <a:pPr marL="132588" indent="-132588" algn="l">
              <a:lnSpc>
                <a:spcPct val="92000"/>
              </a:lnSpc>
              <a:spcAft>
                <a:spcPts val="320"/>
              </a:spcAft>
              <a:buClr>
                <a:srgbClr val="C8912E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Semantic, not keyword</a:t>
            </a:r>
            <a:r>
              <a:rPr sz="930" b="0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— </a:t>
            </a:r>
            <a:r>
              <a:rPr sz="930" b="0" i="0" u="none" kern="0" dirty="0" err="1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MiniLM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embeddings are the genuine AI/ML core.</a:t>
            </a:r>
          </a:p>
          <a:p>
            <a:pPr marL="132588" indent="-132588" algn="l">
              <a:lnSpc>
                <a:spcPct val="92000"/>
              </a:lnSpc>
              <a:spcAft>
                <a:spcPts val="320"/>
              </a:spcAft>
              <a:buClr>
                <a:srgbClr val="C8912E"/>
              </a:buClr>
              <a:buSzPct val="90000"/>
              <a:buFont typeface="Arial" pitchFamily="34" charset="0"/>
              <a:buChar char="•"/>
            </a:pPr>
            <a:r>
              <a:rPr sz="930" b="1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Offline-first by design</a:t>
            </a:r>
            <a:r>
              <a:rPr sz="930" b="0" i="0" u="none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— built for zero-connectivity schools, not despite them.</a:t>
            </a:r>
            <a:endParaRPr lang="en-IN" sz="93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 marL="132588" indent="-132588">
              <a:spcAft>
                <a:spcPts val="320"/>
              </a:spcAft>
              <a:buClr>
                <a:srgbClr val="C8912E"/>
              </a:buClr>
              <a:buSzPct val="90000"/>
              <a:buFont typeface="Arial" pitchFamily="34" charset="0"/>
              <a:buChar char="•"/>
            </a:pPr>
            <a:r>
              <a:rPr lang="en-IN" sz="1000" b="1" dirty="0"/>
              <a:t>Bilingual worksheets </a:t>
            </a:r>
            <a:r>
              <a:rPr lang="en-IN" sz="1000" dirty="0"/>
              <a:t>+ visual flashcards generated against NIPUN Bharat learning outcomes.</a:t>
            </a:r>
            <a:endParaRPr lang="en-IN" sz="93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Rounded Rectangle 30">
            <a:extLst>
              <a:ext uri="{FF2B5EF4-FFF2-40B4-BE49-F238E27FC236}">
                <a16:creationId xmlns:a16="http://schemas.microsoft.com/office/drawing/2014/main" id="{25B79A04-68C1-B045-B91E-F8223623E59F}"/>
              </a:ext>
            </a:extLst>
          </p:cNvPr>
          <p:cNvSpPr/>
          <p:nvPr/>
        </p:nvSpPr>
        <p:spPr>
          <a:xfrm>
            <a:off x="411480" y="4014215"/>
            <a:ext cx="7059168" cy="1481328"/>
          </a:xfrm>
          <a:prstGeom prst="roundRect">
            <a:avLst>
              <a:gd name="adj" fmla="val 5555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EC4DF1-57B4-35A8-B7D9-3341362D0BF8}"/>
              </a:ext>
            </a:extLst>
          </p:cNvPr>
          <p:cNvSpPr txBox="1"/>
          <p:nvPr/>
        </p:nvSpPr>
        <p:spPr>
          <a:xfrm>
            <a:off x="594360" y="4106435"/>
            <a:ext cx="669340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1" i="0" u="none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HOW IT ADDRESSES THE PROBLEM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D2ECCE-6DB1-A626-772D-2FC852C25C27}"/>
              </a:ext>
            </a:extLst>
          </p:cNvPr>
          <p:cNvSpPr txBox="1"/>
          <p:nvPr/>
        </p:nvSpPr>
        <p:spPr>
          <a:xfrm>
            <a:off x="594360" y="4306824"/>
            <a:ext cx="6693407" cy="1149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spcAft>
                <a:spcPts val="340"/>
              </a:spcAft>
              <a:buNone/>
            </a:pPr>
            <a:r>
              <a:rPr sz="950" b="1" i="0" u="none" kern="0" dirty="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5,000+ tribal-area primary schools teach in a language children don't speak at home</a:t>
            </a:r>
            <a:r>
              <a:rPr sz="95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  →   </a:t>
            </a:r>
            <a:r>
              <a:rPr sz="95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verified Class 1–5 mother-tongue content on the teacher's own phone, offline</a:t>
            </a:r>
          </a:p>
          <a:p>
            <a:pPr>
              <a:spcAft>
                <a:spcPts val="340"/>
              </a:spcAft>
            </a:pPr>
            <a:r>
              <a:rPr lang="en-IN" sz="950" b="1" dirty="0">
                <a:solidFill>
                  <a:srgbClr val="B23A2E"/>
                </a:solidFill>
              </a:rPr>
              <a:t>Teachers may be Hindi-medium trained and unfamiliar with tribal languages</a:t>
            </a:r>
            <a:r>
              <a:rPr sz="950" b="1" i="0" u="none" kern="0" dirty="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   </a:t>
            </a:r>
            <a:r>
              <a:rPr sz="95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→   </a:t>
            </a:r>
            <a:r>
              <a:rPr lang="en-IN" sz="1000" dirty="0"/>
              <a:t>Hindi-script pronunciation plus AI-synthesized audio supports classroom delivery without requiring fluency.</a:t>
            </a:r>
            <a:endParaRPr sz="9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340"/>
              </a:spcAft>
            </a:pPr>
            <a:r>
              <a:rPr lang="en-IN" sz="950" b="1" dirty="0">
                <a:solidFill>
                  <a:srgbClr val="C00000"/>
                </a:solidFill>
              </a:rPr>
              <a:t>Digital NLP resources remain limited for several tribal languages</a:t>
            </a:r>
            <a:r>
              <a:rPr sz="950" b="1" i="0" u="none" kern="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  </a:t>
            </a:r>
            <a:r>
              <a:rPr sz="95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→   </a:t>
            </a:r>
            <a:r>
              <a:rPr lang="en-IN" sz="1000" dirty="0"/>
              <a:t>research corpora + Bhashini services provide translation support, with unverified output clearly flagged.</a:t>
            </a:r>
          </a:p>
          <a:p>
            <a:pPr>
              <a:spcAft>
                <a:spcPts val="340"/>
              </a:spcAft>
            </a:pPr>
            <a:r>
              <a:rPr sz="950" b="1" i="0" u="none" kern="0" dirty="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Existing edtech is online-only and Hindi- or English-first</a:t>
            </a:r>
            <a:r>
              <a:rPr sz="95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  →   </a:t>
            </a:r>
            <a:r>
              <a:rPr sz="95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a PWA that runs at zero connectivity on hardware teachers already own</a:t>
            </a:r>
          </a:p>
        </p:txBody>
      </p:sp>
      <p:sp>
        <p:nvSpPr>
          <p:cNvPr id="60" name="Rounded Rectangle 33">
            <a:extLst>
              <a:ext uri="{FF2B5EF4-FFF2-40B4-BE49-F238E27FC236}">
                <a16:creationId xmlns:a16="http://schemas.microsoft.com/office/drawing/2014/main" id="{322858F7-C651-4FF7-D33D-1DD09692F0F4}"/>
              </a:ext>
            </a:extLst>
          </p:cNvPr>
          <p:cNvSpPr/>
          <p:nvPr/>
        </p:nvSpPr>
        <p:spPr>
          <a:xfrm>
            <a:off x="411480" y="5568696"/>
            <a:ext cx="7059168" cy="384048"/>
          </a:xfrm>
          <a:prstGeom prst="roundRect">
            <a:avLst>
              <a:gd name="adj" fmla="val 16666"/>
            </a:avLst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pic>
        <p:nvPicPr>
          <p:cNvPr id="62" name="Picture 61" descr="ce687943.png">
            <a:extLst>
              <a:ext uri="{FF2B5EF4-FFF2-40B4-BE49-F238E27FC236}">
                <a16:creationId xmlns:a16="http://schemas.microsoft.com/office/drawing/2014/main" id="{E0129061-0E50-FCBF-80C0-E6B11F4AD6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678424"/>
            <a:ext cx="173736" cy="173736"/>
          </a:xfrm>
          <a:prstGeom prst="rect">
            <a:avLst/>
          </a:prstGeom>
        </p:spPr>
      </p:pic>
      <p:sp>
        <p:nvSpPr>
          <p:cNvPr id="15360" name="TextBox 15359">
            <a:extLst>
              <a:ext uri="{FF2B5EF4-FFF2-40B4-BE49-F238E27FC236}">
                <a16:creationId xmlns:a16="http://schemas.microsoft.com/office/drawing/2014/main" id="{A74DC61F-9E5D-750A-A8C3-70CF98A3F326}"/>
              </a:ext>
            </a:extLst>
          </p:cNvPr>
          <p:cNvSpPr txBox="1"/>
          <p:nvPr/>
        </p:nvSpPr>
        <p:spPr>
          <a:xfrm>
            <a:off x="829352" y="5606234"/>
            <a:ext cx="660196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000" i="1" dirty="0">
                <a:solidFill>
                  <a:srgbClr val="F2F2F2"/>
                </a:solidFill>
              </a:rPr>
              <a:t>Built from official curriculum resources, language references, research corpora and open educational content — with provenance and verification status tracked for every item.</a:t>
            </a:r>
            <a:endParaRPr sz="970" b="0" i="1" u="none" kern="0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64" name="TextBox 15363">
            <a:extLst>
              <a:ext uri="{FF2B5EF4-FFF2-40B4-BE49-F238E27FC236}">
                <a16:creationId xmlns:a16="http://schemas.microsoft.com/office/drawing/2014/main" id="{E39EEC9F-A98A-D722-970B-0751B842A1E7}"/>
              </a:ext>
            </a:extLst>
          </p:cNvPr>
          <p:cNvSpPr txBox="1"/>
          <p:nvPr/>
        </p:nvSpPr>
        <p:spPr>
          <a:xfrm>
            <a:off x="502920" y="59984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1" i="0" u="none" kern="0">
                <a:solidFill>
                  <a:srgbClr val="F2570A"/>
                </a:solidFill>
                <a:latin typeface="Cambria"/>
                <a:ea typeface="Cambria"/>
                <a:cs typeface="Cambria"/>
              </a:rPr>
              <a:t>1,041+</a:t>
            </a:r>
          </a:p>
        </p:txBody>
      </p:sp>
      <p:sp>
        <p:nvSpPr>
          <p:cNvPr id="15366" name="TextBox 15365">
            <a:extLst>
              <a:ext uri="{FF2B5EF4-FFF2-40B4-BE49-F238E27FC236}">
                <a16:creationId xmlns:a16="http://schemas.microsoft.com/office/drawing/2014/main" id="{21ADBCF8-2361-FD1F-975F-640D587999EC}"/>
              </a:ext>
            </a:extLst>
          </p:cNvPr>
          <p:cNvSpPr txBox="1"/>
          <p:nvPr/>
        </p:nvSpPr>
        <p:spPr>
          <a:xfrm>
            <a:off x="1325880" y="5998464"/>
            <a:ext cx="813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79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PALASH schools live</a:t>
            </a:r>
          </a:p>
        </p:txBody>
      </p:sp>
      <p:sp>
        <p:nvSpPr>
          <p:cNvPr id="15368" name="Rectangle 15367">
            <a:extLst>
              <a:ext uri="{FF2B5EF4-FFF2-40B4-BE49-F238E27FC236}">
                <a16:creationId xmlns:a16="http://schemas.microsoft.com/office/drawing/2014/main" id="{66D19EB9-D598-4FE3-D76C-BDF02296B143}"/>
              </a:ext>
            </a:extLst>
          </p:cNvPr>
          <p:cNvSpPr/>
          <p:nvPr/>
        </p:nvSpPr>
        <p:spPr>
          <a:xfrm>
            <a:off x="2157984" y="6035040"/>
            <a:ext cx="7315" cy="237744"/>
          </a:xfrm>
          <a:prstGeom prst="rect">
            <a:avLst/>
          </a:prstGeom>
          <a:solidFill>
            <a:srgbClr val="E5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>
            <a:extLst>
              <a:ext uri="{FF2B5EF4-FFF2-40B4-BE49-F238E27FC236}">
                <a16:creationId xmlns:a16="http://schemas.microsoft.com/office/drawing/2014/main" id="{C3416E7D-A9FE-B2C2-C8F1-4432154045C8}"/>
              </a:ext>
            </a:extLst>
          </p:cNvPr>
          <p:cNvSpPr txBox="1"/>
          <p:nvPr/>
        </p:nvSpPr>
        <p:spPr>
          <a:xfrm>
            <a:off x="2267712" y="59984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1" i="0" u="none" kern="0">
                <a:solidFill>
                  <a:srgbClr val="F2570A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15372" name="TextBox 15371">
            <a:extLst>
              <a:ext uri="{FF2B5EF4-FFF2-40B4-BE49-F238E27FC236}">
                <a16:creationId xmlns:a16="http://schemas.microsoft.com/office/drawing/2014/main" id="{079BD52A-1431-5136-4E00-CB078EACB5C3}"/>
              </a:ext>
            </a:extLst>
          </p:cNvPr>
          <p:cNvSpPr txBox="1"/>
          <p:nvPr/>
        </p:nvSpPr>
        <p:spPr>
          <a:xfrm>
            <a:off x="3090672" y="5998464"/>
            <a:ext cx="813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79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districts in Jharkhand</a:t>
            </a:r>
          </a:p>
        </p:txBody>
      </p:sp>
      <p:sp>
        <p:nvSpPr>
          <p:cNvPr id="15374" name="Rectangle 15373">
            <a:extLst>
              <a:ext uri="{FF2B5EF4-FFF2-40B4-BE49-F238E27FC236}">
                <a16:creationId xmlns:a16="http://schemas.microsoft.com/office/drawing/2014/main" id="{1569CA65-B9D3-8B58-5764-D9AC22AD32C4}"/>
              </a:ext>
            </a:extLst>
          </p:cNvPr>
          <p:cNvSpPr/>
          <p:nvPr/>
        </p:nvSpPr>
        <p:spPr>
          <a:xfrm>
            <a:off x="3922776" y="6035040"/>
            <a:ext cx="7315" cy="237744"/>
          </a:xfrm>
          <a:prstGeom prst="rect">
            <a:avLst/>
          </a:prstGeom>
          <a:solidFill>
            <a:srgbClr val="E5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TextBox 15375">
            <a:extLst>
              <a:ext uri="{FF2B5EF4-FFF2-40B4-BE49-F238E27FC236}">
                <a16:creationId xmlns:a16="http://schemas.microsoft.com/office/drawing/2014/main" id="{A01645D8-C0AA-2150-E435-68F1CE90F6DF}"/>
              </a:ext>
            </a:extLst>
          </p:cNvPr>
          <p:cNvSpPr txBox="1"/>
          <p:nvPr/>
        </p:nvSpPr>
        <p:spPr>
          <a:xfrm>
            <a:off x="4032503" y="59984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1" i="0" u="none" kern="0">
                <a:solidFill>
                  <a:srgbClr val="F2570A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15378" name="TextBox 15377">
            <a:extLst>
              <a:ext uri="{FF2B5EF4-FFF2-40B4-BE49-F238E27FC236}">
                <a16:creationId xmlns:a16="http://schemas.microsoft.com/office/drawing/2014/main" id="{C89C172C-60F7-244C-21F3-E777FF66328C}"/>
              </a:ext>
            </a:extLst>
          </p:cNvPr>
          <p:cNvSpPr txBox="1"/>
          <p:nvPr/>
        </p:nvSpPr>
        <p:spPr>
          <a:xfrm>
            <a:off x="4855464" y="5998464"/>
            <a:ext cx="813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79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tribal languages</a:t>
            </a:r>
          </a:p>
        </p:txBody>
      </p:sp>
      <p:sp>
        <p:nvSpPr>
          <p:cNvPr id="15380" name="Rectangle 15379">
            <a:extLst>
              <a:ext uri="{FF2B5EF4-FFF2-40B4-BE49-F238E27FC236}">
                <a16:creationId xmlns:a16="http://schemas.microsoft.com/office/drawing/2014/main" id="{A4EF1F61-FDE0-A942-6BA9-792AE7619653}"/>
              </a:ext>
            </a:extLst>
          </p:cNvPr>
          <p:cNvSpPr/>
          <p:nvPr/>
        </p:nvSpPr>
        <p:spPr>
          <a:xfrm>
            <a:off x="5687568" y="6035040"/>
            <a:ext cx="7315" cy="237744"/>
          </a:xfrm>
          <a:prstGeom prst="rect">
            <a:avLst/>
          </a:prstGeom>
          <a:solidFill>
            <a:srgbClr val="E5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2" name="TextBox 15381">
            <a:extLst>
              <a:ext uri="{FF2B5EF4-FFF2-40B4-BE49-F238E27FC236}">
                <a16:creationId xmlns:a16="http://schemas.microsoft.com/office/drawing/2014/main" id="{5FE5A4B5-EFFB-3110-6C81-565C2D7AF2DE}"/>
              </a:ext>
            </a:extLst>
          </p:cNvPr>
          <p:cNvSpPr txBox="1"/>
          <p:nvPr/>
        </p:nvSpPr>
        <p:spPr>
          <a:xfrm>
            <a:off x="5797296" y="59984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1" i="0" u="none" kern="0">
                <a:solidFill>
                  <a:srgbClr val="F2570A"/>
                </a:solidFill>
                <a:latin typeface="Cambria"/>
                <a:ea typeface="Cambria"/>
                <a:cs typeface="Cambria"/>
              </a:rPr>
              <a:t>1–5</a:t>
            </a:r>
          </a:p>
        </p:txBody>
      </p:sp>
      <p:sp>
        <p:nvSpPr>
          <p:cNvPr id="15384" name="TextBox 15383">
            <a:extLst>
              <a:ext uri="{FF2B5EF4-FFF2-40B4-BE49-F238E27FC236}">
                <a16:creationId xmlns:a16="http://schemas.microsoft.com/office/drawing/2014/main" id="{F3E4E56C-427A-0AA8-E76D-6EC5798BEB07}"/>
              </a:ext>
            </a:extLst>
          </p:cNvPr>
          <p:cNvSpPr txBox="1"/>
          <p:nvPr/>
        </p:nvSpPr>
        <p:spPr>
          <a:xfrm>
            <a:off x="6620256" y="6092356"/>
            <a:ext cx="813815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79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target grade range</a:t>
            </a:r>
            <a:endParaRPr sz="790" b="0" i="0" u="none" kern="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86" name="Rounded Rectangle 47">
            <a:extLst>
              <a:ext uri="{FF2B5EF4-FFF2-40B4-BE49-F238E27FC236}">
                <a16:creationId xmlns:a16="http://schemas.microsoft.com/office/drawing/2014/main" id="{078CEE90-2E29-917F-0F0A-7C23F207C8F9}"/>
              </a:ext>
            </a:extLst>
          </p:cNvPr>
          <p:cNvSpPr/>
          <p:nvPr/>
        </p:nvSpPr>
        <p:spPr>
          <a:xfrm>
            <a:off x="7589520" y="4014215"/>
            <a:ext cx="4187952" cy="2295144"/>
          </a:xfrm>
          <a:prstGeom prst="roundRect">
            <a:avLst>
              <a:gd name="adj" fmla="val 3585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88" name="TextBox 15387">
            <a:extLst>
              <a:ext uri="{FF2B5EF4-FFF2-40B4-BE49-F238E27FC236}">
                <a16:creationId xmlns:a16="http://schemas.microsoft.com/office/drawing/2014/main" id="{F4F9DE0C-1306-97D8-982F-EEAADA7D03B4}"/>
              </a:ext>
            </a:extLst>
          </p:cNvPr>
          <p:cNvSpPr txBox="1"/>
          <p:nvPr/>
        </p:nvSpPr>
        <p:spPr>
          <a:xfrm>
            <a:off x="7735824" y="4096511"/>
            <a:ext cx="389534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00" b="1" i="0" u="none" kern="0" spc="10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THE GAP WE CLOSE</a:t>
            </a:r>
          </a:p>
        </p:txBody>
      </p:sp>
      <p:pic>
        <p:nvPicPr>
          <p:cNvPr id="15390" name="Picture 15389" descr="f5b9fd54.png">
            <a:extLst>
              <a:ext uri="{FF2B5EF4-FFF2-40B4-BE49-F238E27FC236}">
                <a16:creationId xmlns:a16="http://schemas.microsoft.com/office/drawing/2014/main" id="{4E5640FE-F814-8360-1CF2-ECA4391A2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979" y="4270247"/>
            <a:ext cx="2260550" cy="1450000"/>
          </a:xfrm>
          <a:prstGeom prst="rect">
            <a:avLst/>
          </a:prstGeom>
        </p:spPr>
      </p:pic>
      <p:sp>
        <p:nvSpPr>
          <p:cNvPr id="15392" name="TextBox 15391">
            <a:extLst>
              <a:ext uri="{FF2B5EF4-FFF2-40B4-BE49-F238E27FC236}">
                <a16:creationId xmlns:a16="http://schemas.microsoft.com/office/drawing/2014/main" id="{E99D96F2-3BD7-16A5-D2B6-3E1EE1B1293D}"/>
              </a:ext>
            </a:extLst>
          </p:cNvPr>
          <p:cNvSpPr txBox="1"/>
          <p:nvPr/>
        </p:nvSpPr>
        <p:spPr>
          <a:xfrm>
            <a:off x="7735824" y="5824727"/>
            <a:ext cx="389534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9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PALASH has established a substantial school network 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— but language accessibility for non-native teachers remains a practical classroom gap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PalashVani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designed to bridge. Supports FLN lesson scripts, activity instructions and assessment prompts.</a:t>
            </a:r>
            <a:endParaRPr lang="en-IN" sz="830" b="0" i="0" u="none" kern="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394" name="Picture 15393">
            <a:extLst>
              <a:ext uri="{FF2B5EF4-FFF2-40B4-BE49-F238E27FC236}">
                <a16:creationId xmlns:a16="http://schemas.microsoft.com/office/drawing/2014/main" id="{D27BA4B7-39A4-1369-F7CC-71E497097C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2375" y="-219076"/>
            <a:ext cx="2805227" cy="1578780"/>
          </a:xfrm>
          <a:prstGeom prst="rect">
            <a:avLst/>
          </a:prstGeom>
        </p:spPr>
      </p:pic>
      <p:pic>
        <p:nvPicPr>
          <p:cNvPr id="15396" name="Picture 15395">
            <a:extLst>
              <a:ext uri="{FF2B5EF4-FFF2-40B4-BE49-F238E27FC236}">
                <a16:creationId xmlns:a16="http://schemas.microsoft.com/office/drawing/2014/main" id="{4F67D83D-BE0E-C485-B8D0-11E0897C0B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740" y="1161026"/>
            <a:ext cx="459789" cy="459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A4A58A-48F0-57F7-EC45-AC12A85C71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4608" y="4287489"/>
            <a:ext cx="1914679" cy="7731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4FF8F9-1BA6-2411-351B-A2E4FE5A53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9916" y="5065825"/>
            <a:ext cx="1359433" cy="6585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C2B87F-5D05-CFB3-D2EA-38869E122C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902" y="424513"/>
            <a:ext cx="1144216" cy="4520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D4B98E0-199B-D627-8124-CED1629172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395F9EC-CFFD-EC47-4EF1-F02612F62517}"/>
              </a:ext>
            </a:extLst>
          </p:cNvPr>
          <p:cNvSpPr/>
          <p:nvPr/>
        </p:nvSpPr>
        <p:spPr>
          <a:xfrm>
            <a:off x="411480" y="1152144"/>
            <a:ext cx="2766060" cy="1391906"/>
          </a:xfrm>
          <a:prstGeom prst="roundRect">
            <a:avLst>
              <a:gd name="adj" fmla="val 6428"/>
            </a:avLst>
          </a:prstGeom>
          <a:solidFill>
            <a:srgbClr val="F5F4F2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3892F-31C1-B0F7-5625-99DC1307E3FD}"/>
              </a:ext>
            </a:extLst>
          </p:cNvPr>
          <p:cNvSpPr txBox="1"/>
          <p:nvPr/>
        </p:nvSpPr>
        <p:spPr>
          <a:xfrm>
            <a:off x="557784" y="1252728"/>
            <a:ext cx="1481328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FRONTEND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703963-81B6-5017-0871-804B83FCB323}"/>
              </a:ext>
            </a:extLst>
          </p:cNvPr>
          <p:cNvSpPr/>
          <p:nvPr/>
        </p:nvSpPr>
        <p:spPr>
          <a:xfrm>
            <a:off x="2071116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0d1127b.png">
            <a:extLst>
              <a:ext uri="{FF2B5EF4-FFF2-40B4-BE49-F238E27FC236}">
                <a16:creationId xmlns:a16="http://schemas.microsoft.com/office/drawing/2014/main" id="{6F836F91-C073-DDB0-E7F6-15F02B14F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236" y="1295704"/>
            <a:ext cx="170078" cy="170078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F52E028F-6B0B-BCD0-A2D3-2DD6E40A5A03}"/>
              </a:ext>
            </a:extLst>
          </p:cNvPr>
          <p:cNvSpPr/>
          <p:nvPr/>
        </p:nvSpPr>
        <p:spPr>
          <a:xfrm>
            <a:off x="2414016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66691720.png">
            <a:extLst>
              <a:ext uri="{FF2B5EF4-FFF2-40B4-BE49-F238E27FC236}">
                <a16:creationId xmlns:a16="http://schemas.microsoft.com/office/drawing/2014/main" id="{D9587F1C-5AF6-D3A5-1D0E-52FC6B5F7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136" y="1295704"/>
            <a:ext cx="170078" cy="170078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D903F57-5E30-A688-0644-E8BDDC83F067}"/>
              </a:ext>
            </a:extLst>
          </p:cNvPr>
          <p:cNvSpPr/>
          <p:nvPr/>
        </p:nvSpPr>
        <p:spPr>
          <a:xfrm>
            <a:off x="2756916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70c4c642.png">
            <a:extLst>
              <a:ext uri="{FF2B5EF4-FFF2-40B4-BE49-F238E27FC236}">
                <a16:creationId xmlns:a16="http://schemas.microsoft.com/office/drawing/2014/main" id="{1FE82C52-C9D8-C2CC-7E28-C569511C6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9036" y="1295704"/>
            <a:ext cx="170078" cy="1700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20E335-D586-6FE6-ADEB-5D27A3E7E175}"/>
              </a:ext>
            </a:extLst>
          </p:cNvPr>
          <p:cNvSpPr txBox="1"/>
          <p:nvPr/>
        </p:nvSpPr>
        <p:spPr>
          <a:xfrm>
            <a:off x="557784" y="1581912"/>
            <a:ext cx="247345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React.js (PWA)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+ React Native shell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Tailwind CSS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· Service Worker + Cache API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Progressive Web App with offline support</a:t>
            </a:r>
            <a:endParaRPr lang="en-IN" sz="84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lang="en-US"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Single codebase, lazy-loaded routes for performance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lang="en-US"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Icon-first, one-tap UI for low-literacy use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EFAC94E7-6CD6-E928-5E29-4E097DD36DC5}"/>
              </a:ext>
            </a:extLst>
          </p:cNvPr>
          <p:cNvSpPr/>
          <p:nvPr/>
        </p:nvSpPr>
        <p:spPr>
          <a:xfrm>
            <a:off x="3278124" y="1152143"/>
            <a:ext cx="2766060" cy="1391907"/>
          </a:xfrm>
          <a:prstGeom prst="roundRect">
            <a:avLst>
              <a:gd name="adj" fmla="val 6428"/>
            </a:avLst>
          </a:prstGeom>
          <a:solidFill>
            <a:srgbClr val="FDEDE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34289C-51BB-F8FF-7D8A-7B8F93A782AD}"/>
              </a:ext>
            </a:extLst>
          </p:cNvPr>
          <p:cNvSpPr txBox="1"/>
          <p:nvPr/>
        </p:nvSpPr>
        <p:spPr>
          <a:xfrm>
            <a:off x="3424428" y="1252728"/>
            <a:ext cx="1481328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F2570A"/>
                </a:solidFill>
                <a:latin typeface="Cambria"/>
                <a:ea typeface="Cambria"/>
                <a:cs typeface="Cambria"/>
              </a:rPr>
              <a:t>BACKEND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063649-8E1F-969F-82C2-8B69D1FA8E14}"/>
              </a:ext>
            </a:extLst>
          </p:cNvPr>
          <p:cNvSpPr/>
          <p:nvPr/>
        </p:nvSpPr>
        <p:spPr>
          <a:xfrm>
            <a:off x="4937759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52245123.png">
            <a:extLst>
              <a:ext uri="{FF2B5EF4-FFF2-40B4-BE49-F238E27FC236}">
                <a16:creationId xmlns:a16="http://schemas.microsoft.com/office/drawing/2014/main" id="{A21677D8-E031-591F-2EC3-6DEB3CA6D3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880" y="1295704"/>
            <a:ext cx="170078" cy="170078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E87A7643-F0C3-99AA-31F5-B67A9D7D333F}"/>
              </a:ext>
            </a:extLst>
          </p:cNvPr>
          <p:cNvSpPr/>
          <p:nvPr/>
        </p:nvSpPr>
        <p:spPr>
          <a:xfrm>
            <a:off x="5280659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1a1f05c.png">
            <a:extLst>
              <a:ext uri="{FF2B5EF4-FFF2-40B4-BE49-F238E27FC236}">
                <a16:creationId xmlns:a16="http://schemas.microsoft.com/office/drawing/2014/main" id="{63B7B458-8C25-A382-130C-05A4809E9B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2780" y="1295704"/>
            <a:ext cx="170078" cy="170078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0D016B8A-C784-0459-78DE-65FEBA240F15}"/>
              </a:ext>
            </a:extLst>
          </p:cNvPr>
          <p:cNvSpPr/>
          <p:nvPr/>
        </p:nvSpPr>
        <p:spPr>
          <a:xfrm>
            <a:off x="5623559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f4d07a5.png">
            <a:extLst>
              <a:ext uri="{FF2B5EF4-FFF2-40B4-BE49-F238E27FC236}">
                <a16:creationId xmlns:a16="http://schemas.microsoft.com/office/drawing/2014/main" id="{D2D454FC-7C26-479A-A699-E2519D758B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5680" y="1295704"/>
            <a:ext cx="170078" cy="17007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59C1C9B-CE0D-6223-3BD2-CBE43CBBD2C2}"/>
              </a:ext>
            </a:extLst>
          </p:cNvPr>
          <p:cNvSpPr txBox="1"/>
          <p:nvPr/>
        </p:nvSpPr>
        <p:spPr>
          <a:xfrm>
            <a:off x="3404764" y="1503254"/>
            <a:ext cx="2638044" cy="726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Python 3 + </a:t>
            </a:r>
            <a:r>
              <a:rPr sz="840" b="1" i="0" u="none" kern="0" dirty="0" err="1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— REST endpoints</a:t>
            </a:r>
          </a:p>
          <a:p>
            <a:pPr>
              <a:spcAft>
                <a:spcPts val="180"/>
              </a:spcAft>
            </a:pPr>
            <a:r>
              <a:rPr lang="en-IN" sz="900" b="1" dirty="0"/>
              <a:t>SQLite/local database </a:t>
            </a:r>
            <a:r>
              <a:rPr lang="en-IN" sz="900" dirty="0"/>
              <a:t>+ sync layer</a:t>
            </a:r>
            <a:br>
              <a:rPr lang="en-IN" sz="900" dirty="0"/>
            </a:br>
            <a:r>
              <a:rPr lang="en-IN" sz="900" dirty="0"/>
              <a:t>Alembic migrations + JWT auth + role-based access control</a:t>
            </a:r>
          </a:p>
          <a:p>
            <a:pPr>
              <a:spcAft>
                <a:spcPts val="180"/>
              </a:spcAft>
            </a:pP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Natural fit for the OCR and ML calls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RESTful API with automatic OpenAPI/Swagger docs</a:t>
            </a:r>
          </a:p>
        </p:txBody>
      </p:sp>
      <p:sp>
        <p:nvSpPr>
          <p:cNvPr id="46" name="Rounded Rectangle 25">
            <a:extLst>
              <a:ext uri="{FF2B5EF4-FFF2-40B4-BE49-F238E27FC236}">
                <a16:creationId xmlns:a16="http://schemas.microsoft.com/office/drawing/2014/main" id="{9250FF17-6D02-6248-6152-745B5AE862C6}"/>
              </a:ext>
            </a:extLst>
          </p:cNvPr>
          <p:cNvSpPr/>
          <p:nvPr/>
        </p:nvSpPr>
        <p:spPr>
          <a:xfrm>
            <a:off x="6144768" y="1152143"/>
            <a:ext cx="2766060" cy="1382149"/>
          </a:xfrm>
          <a:prstGeom prst="roundRect">
            <a:avLst>
              <a:gd name="adj" fmla="val 6428"/>
            </a:avLst>
          </a:prstGeom>
          <a:solidFill>
            <a:srgbClr val="F1EAF8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D7CAEE-8D59-A694-37D8-49386A47A6B8}"/>
              </a:ext>
            </a:extLst>
          </p:cNvPr>
          <p:cNvSpPr txBox="1"/>
          <p:nvPr/>
        </p:nvSpPr>
        <p:spPr>
          <a:xfrm>
            <a:off x="6291072" y="1252728"/>
            <a:ext cx="1481328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6B3FA0"/>
                </a:solidFill>
                <a:latin typeface="Cambria"/>
                <a:ea typeface="Cambria"/>
                <a:cs typeface="Cambria"/>
              </a:rPr>
              <a:t>AI / ML CORE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28B4925-8CF6-C6CE-D698-53512461DF2E}"/>
              </a:ext>
            </a:extLst>
          </p:cNvPr>
          <p:cNvSpPr/>
          <p:nvPr/>
        </p:nvSpPr>
        <p:spPr>
          <a:xfrm>
            <a:off x="7804404" y="1243584"/>
            <a:ext cx="274320" cy="27432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d5933ebd.png">
            <a:extLst>
              <a:ext uri="{FF2B5EF4-FFF2-40B4-BE49-F238E27FC236}">
                <a16:creationId xmlns:a16="http://schemas.microsoft.com/office/drawing/2014/main" id="{F141EA91-C787-7D3A-34E9-7F89B57FE5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2808" y="1281988"/>
            <a:ext cx="197510" cy="197510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862DE8E0-D5EE-DBF1-3401-E6E34BF9BA1D}"/>
              </a:ext>
            </a:extLst>
          </p:cNvPr>
          <p:cNvSpPr/>
          <p:nvPr/>
        </p:nvSpPr>
        <p:spPr>
          <a:xfrm>
            <a:off x="8147304" y="1243584"/>
            <a:ext cx="274320" cy="27432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d17b62e8.png">
            <a:extLst>
              <a:ext uri="{FF2B5EF4-FFF2-40B4-BE49-F238E27FC236}">
                <a16:creationId xmlns:a16="http://schemas.microsoft.com/office/drawing/2014/main" id="{08638AAC-3220-9B97-7B20-E3319C7D10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5708" y="1281988"/>
            <a:ext cx="197510" cy="197510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F0569CB1-9B23-3A5D-0B3D-925BE93D26F4}"/>
              </a:ext>
            </a:extLst>
          </p:cNvPr>
          <p:cNvSpPr/>
          <p:nvPr/>
        </p:nvSpPr>
        <p:spPr>
          <a:xfrm>
            <a:off x="8490204" y="1243584"/>
            <a:ext cx="274320" cy="27432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fd04a715.png">
            <a:extLst>
              <a:ext uri="{FF2B5EF4-FFF2-40B4-BE49-F238E27FC236}">
                <a16:creationId xmlns:a16="http://schemas.microsoft.com/office/drawing/2014/main" id="{39EE329F-ECFD-4F95-F37B-48113C1D8E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8608" y="1281988"/>
            <a:ext cx="197510" cy="19751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12932BF-E8EA-F57B-B863-FF4206783A95}"/>
              </a:ext>
            </a:extLst>
          </p:cNvPr>
          <p:cNvSpPr txBox="1"/>
          <p:nvPr/>
        </p:nvSpPr>
        <p:spPr>
          <a:xfrm>
            <a:off x="6291072" y="1513087"/>
            <a:ext cx="2619756" cy="873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sentence-transformers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— MiniLM-L12-v2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OCR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— Tesseract / Google ML Kit</a:t>
            </a:r>
            <a:endParaRPr lang="en-IN" sz="84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80"/>
              </a:spcAft>
            </a:pPr>
            <a:r>
              <a:rPr lang="en-IN" sz="900" b="1" dirty="0"/>
              <a:t>Bhashini</a:t>
            </a:r>
            <a:r>
              <a:rPr lang="en-IN" sz="900" dirty="0"/>
              <a:t> ASR + NMT + TTS — where language/service coverage is available</a:t>
            </a:r>
          </a:p>
          <a:p>
            <a:pPr>
              <a:spcAft>
                <a:spcPts val="180"/>
              </a:spcAft>
            </a:pPr>
            <a:r>
              <a:rPr lang="en-US"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RapidFuzz for fuzzy matching + cosine similarity for embeddings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lang="en-US"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Cosine-similarity threshold drives the flag</a:t>
            </a:r>
          </a:p>
        </p:txBody>
      </p:sp>
      <p:sp>
        <p:nvSpPr>
          <p:cNvPr id="17408" name="Rounded Rectangle 34">
            <a:extLst>
              <a:ext uri="{FF2B5EF4-FFF2-40B4-BE49-F238E27FC236}">
                <a16:creationId xmlns:a16="http://schemas.microsoft.com/office/drawing/2014/main" id="{901A434F-D145-C569-9DC4-94CF9E13510D}"/>
              </a:ext>
            </a:extLst>
          </p:cNvPr>
          <p:cNvSpPr/>
          <p:nvPr/>
        </p:nvSpPr>
        <p:spPr>
          <a:xfrm>
            <a:off x="9011411" y="1152144"/>
            <a:ext cx="2766060" cy="1382148"/>
          </a:xfrm>
          <a:prstGeom prst="roundRect">
            <a:avLst>
              <a:gd name="adj" fmla="val 6428"/>
            </a:avLst>
          </a:prstGeom>
          <a:solidFill>
            <a:srgbClr val="E9F4F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E69E1AE0-A2F1-CE25-C0BD-9331E8841BB1}"/>
              </a:ext>
            </a:extLst>
          </p:cNvPr>
          <p:cNvSpPr txBox="1"/>
          <p:nvPr/>
        </p:nvSpPr>
        <p:spPr>
          <a:xfrm>
            <a:off x="9157715" y="1252728"/>
            <a:ext cx="1481328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2E8B87"/>
                </a:solidFill>
                <a:latin typeface="Cambria"/>
                <a:ea typeface="Cambria"/>
                <a:cs typeface="Cambria"/>
              </a:rPr>
              <a:t>SERVICES &amp; DEPLOY</a:t>
            </a:r>
          </a:p>
        </p:txBody>
      </p:sp>
      <p:sp>
        <p:nvSpPr>
          <p:cNvPr id="17414" name="Oval 17413">
            <a:extLst>
              <a:ext uri="{FF2B5EF4-FFF2-40B4-BE49-F238E27FC236}">
                <a16:creationId xmlns:a16="http://schemas.microsoft.com/office/drawing/2014/main" id="{8B8CD24C-99E8-3EC6-3711-F1A7BFC51E89}"/>
              </a:ext>
            </a:extLst>
          </p:cNvPr>
          <p:cNvSpPr/>
          <p:nvPr/>
        </p:nvSpPr>
        <p:spPr>
          <a:xfrm>
            <a:off x="10671047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6" name="Picture 17415" descr="8e284a4b.png">
            <a:extLst>
              <a:ext uri="{FF2B5EF4-FFF2-40B4-BE49-F238E27FC236}">
                <a16:creationId xmlns:a16="http://schemas.microsoft.com/office/drawing/2014/main" id="{E95CB11A-A966-DFAC-D5C0-8F25C2EA0E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23168" y="1295704"/>
            <a:ext cx="170078" cy="170078"/>
          </a:xfrm>
          <a:prstGeom prst="rect">
            <a:avLst/>
          </a:prstGeom>
        </p:spPr>
      </p:pic>
      <p:sp>
        <p:nvSpPr>
          <p:cNvPr id="17418" name="Oval 17417">
            <a:extLst>
              <a:ext uri="{FF2B5EF4-FFF2-40B4-BE49-F238E27FC236}">
                <a16:creationId xmlns:a16="http://schemas.microsoft.com/office/drawing/2014/main" id="{33F02DBD-D7E5-5A1E-A381-37C8861C9E81}"/>
              </a:ext>
            </a:extLst>
          </p:cNvPr>
          <p:cNvSpPr/>
          <p:nvPr/>
        </p:nvSpPr>
        <p:spPr>
          <a:xfrm>
            <a:off x="11013947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0" name="Picture 17419" descr="68c67c48.png">
            <a:extLst>
              <a:ext uri="{FF2B5EF4-FFF2-40B4-BE49-F238E27FC236}">
                <a16:creationId xmlns:a16="http://schemas.microsoft.com/office/drawing/2014/main" id="{D2837C07-FA8A-24F5-B8EB-E16408A0D0C3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1066068" y="1295704"/>
            <a:ext cx="170078" cy="170078"/>
          </a:xfrm>
          <a:prstGeom prst="rect">
            <a:avLst/>
          </a:prstGeom>
        </p:spPr>
      </p:pic>
      <p:sp>
        <p:nvSpPr>
          <p:cNvPr id="17422" name="Oval 17421">
            <a:extLst>
              <a:ext uri="{FF2B5EF4-FFF2-40B4-BE49-F238E27FC236}">
                <a16:creationId xmlns:a16="http://schemas.microsoft.com/office/drawing/2014/main" id="{AD4AB993-9835-BE81-D021-C3F15109C3ED}"/>
              </a:ext>
            </a:extLst>
          </p:cNvPr>
          <p:cNvSpPr/>
          <p:nvPr/>
        </p:nvSpPr>
        <p:spPr>
          <a:xfrm>
            <a:off x="11356847" y="1243584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4" name="Picture 17423" descr="7707b6cb.png">
            <a:extLst>
              <a:ext uri="{FF2B5EF4-FFF2-40B4-BE49-F238E27FC236}">
                <a16:creationId xmlns:a16="http://schemas.microsoft.com/office/drawing/2014/main" id="{9DC8D280-4D7D-4C79-5828-63D44FDF34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08968" y="1295704"/>
            <a:ext cx="170078" cy="170078"/>
          </a:xfrm>
          <a:prstGeom prst="rect">
            <a:avLst/>
          </a:prstGeom>
        </p:spPr>
      </p:pic>
      <p:sp>
        <p:nvSpPr>
          <p:cNvPr id="17426" name="TextBox 17425">
            <a:extLst>
              <a:ext uri="{FF2B5EF4-FFF2-40B4-BE49-F238E27FC236}">
                <a16:creationId xmlns:a16="http://schemas.microsoft.com/office/drawing/2014/main" id="{47F3B7DD-602F-4675-9DF1-21844C6B5571}"/>
              </a:ext>
            </a:extLst>
          </p:cNvPr>
          <p:cNvSpPr txBox="1"/>
          <p:nvPr/>
        </p:nvSpPr>
        <p:spPr>
          <a:xfrm>
            <a:off x="9157715" y="1562248"/>
            <a:ext cx="2473452" cy="873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 err="1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Vercel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frontend  ·  Render backend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1" i="0" u="none" kern="0" dirty="0" err="1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Cloudinary</a:t>
            </a: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audio CDN · Firebase / Auth0</a:t>
            </a:r>
          </a:p>
          <a:p>
            <a:pPr algn="l">
              <a:lnSpc>
                <a:spcPct val="94000"/>
              </a:lnSpc>
              <a:spcAft>
                <a:spcPts val="180"/>
              </a:spcAft>
              <a:buNone/>
            </a:pP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Zero paid dependencies - fully open source stack</a:t>
            </a:r>
          </a:p>
          <a:p>
            <a:pPr>
              <a:spcAft>
                <a:spcPts val="180"/>
              </a:spcAft>
            </a:pPr>
            <a:r>
              <a:rPr lang="en-IN" sz="900" dirty="0"/>
              <a:t>AI-synthesized TTS audio; Bhashini TTS where supported</a:t>
            </a:r>
          </a:p>
          <a:p>
            <a:pPr>
              <a:spcAft>
                <a:spcPts val="180"/>
              </a:spcAft>
            </a:pPr>
            <a:r>
              <a:rPr sz="84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No servers to procure, nothing for JCERT to host</a:t>
            </a:r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73E8DC87-C96F-AEAD-AC59-38F6CC179BEF}"/>
              </a:ext>
            </a:extLst>
          </p:cNvPr>
          <p:cNvSpPr txBox="1"/>
          <p:nvPr/>
        </p:nvSpPr>
        <p:spPr>
          <a:xfrm>
            <a:off x="5248967" y="261552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1" i="0" u="none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sz="650" b="0" i="0" u="none" kern="0" dirty="0">
              <a:solidFill>
                <a:srgbClr val="5E6B6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40" name="Rounded Rectangle 49">
            <a:extLst>
              <a:ext uri="{FF2B5EF4-FFF2-40B4-BE49-F238E27FC236}">
                <a16:creationId xmlns:a16="http://schemas.microsoft.com/office/drawing/2014/main" id="{47F3CFA2-4A91-0FD6-40DB-A21418F3BCD9}"/>
              </a:ext>
            </a:extLst>
          </p:cNvPr>
          <p:cNvSpPr/>
          <p:nvPr/>
        </p:nvSpPr>
        <p:spPr>
          <a:xfrm>
            <a:off x="411480" y="5230368"/>
            <a:ext cx="11365992" cy="1078992"/>
          </a:xfrm>
          <a:prstGeom prst="roundRect">
            <a:avLst>
              <a:gd name="adj" fmla="val 7627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DF09DBDD-40C0-389B-D48E-A18570EB6B3B}"/>
              </a:ext>
            </a:extLst>
          </p:cNvPr>
          <p:cNvSpPr txBox="1"/>
          <p:nvPr/>
        </p:nvSpPr>
        <p:spPr>
          <a:xfrm>
            <a:off x="576072" y="5313444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1" i="0" u="none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APP SITEMAP  —  SEVEN SCREENS, HOME TO OFFLINE</a:t>
            </a:r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CF5CBF73-CEA6-649A-1D18-8C737AAF7DBC}"/>
              </a:ext>
            </a:extLst>
          </p:cNvPr>
          <p:cNvSpPr txBox="1"/>
          <p:nvPr/>
        </p:nvSpPr>
        <p:spPr>
          <a:xfrm>
            <a:off x="6172200" y="5303520"/>
            <a:ext cx="542239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780" b="0" i="1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mirrors the real JCERT Grade → Subject → Chapter tree</a:t>
            </a:r>
          </a:p>
        </p:txBody>
      </p:sp>
      <p:sp>
        <p:nvSpPr>
          <p:cNvPr id="17446" name="Oval 17445">
            <a:extLst>
              <a:ext uri="{FF2B5EF4-FFF2-40B4-BE49-F238E27FC236}">
                <a16:creationId xmlns:a16="http://schemas.microsoft.com/office/drawing/2014/main" id="{B186BFB2-EAF1-4FF9-D61D-DFE5CB7D6B1E}"/>
              </a:ext>
            </a:extLst>
          </p:cNvPr>
          <p:cNvSpPr/>
          <p:nvPr/>
        </p:nvSpPr>
        <p:spPr>
          <a:xfrm>
            <a:off x="1227255" y="5513831"/>
            <a:ext cx="274320" cy="274320"/>
          </a:xfrm>
          <a:prstGeom prst="ellipse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8" name="Picture 17447" descr="458a806d.png">
            <a:extLst>
              <a:ext uri="{FF2B5EF4-FFF2-40B4-BE49-F238E27FC236}">
                <a16:creationId xmlns:a16="http://schemas.microsoft.com/office/drawing/2014/main" id="{CE6D3A10-80C8-224B-49EA-6A222864C80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8403" y="5554979"/>
            <a:ext cx="192024" cy="192024"/>
          </a:xfrm>
          <a:prstGeom prst="rect">
            <a:avLst/>
          </a:prstGeom>
        </p:spPr>
      </p:pic>
      <p:sp>
        <p:nvSpPr>
          <p:cNvPr id="17450" name="TextBox 17449">
            <a:extLst>
              <a:ext uri="{FF2B5EF4-FFF2-40B4-BE49-F238E27FC236}">
                <a16:creationId xmlns:a16="http://schemas.microsoft.com/office/drawing/2014/main" id="{22AA614A-E75C-3750-8D55-20A75BFC80CE}"/>
              </a:ext>
            </a:extLst>
          </p:cNvPr>
          <p:cNvSpPr txBox="1"/>
          <p:nvPr/>
        </p:nvSpPr>
        <p:spPr>
          <a:xfrm>
            <a:off x="576072" y="5806440"/>
            <a:ext cx="157668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01  </a:t>
            </a:r>
            <a:r>
              <a:rPr sz="84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Home</a:t>
            </a:r>
          </a:p>
        </p:txBody>
      </p:sp>
      <p:sp>
        <p:nvSpPr>
          <p:cNvPr id="17452" name="TextBox 17451">
            <a:extLst>
              <a:ext uri="{FF2B5EF4-FFF2-40B4-BE49-F238E27FC236}">
                <a16:creationId xmlns:a16="http://schemas.microsoft.com/office/drawing/2014/main" id="{98B58FFB-3C5F-10FF-F5B2-7F2BB30EF4BC}"/>
              </a:ext>
            </a:extLst>
          </p:cNvPr>
          <p:cNvSpPr txBox="1"/>
          <p:nvPr/>
        </p:nvSpPr>
        <p:spPr>
          <a:xfrm>
            <a:off x="612648" y="5989320"/>
            <a:ext cx="150353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Grade → Subject → Chapter</a:t>
            </a:r>
          </a:p>
        </p:txBody>
      </p:sp>
      <p:sp>
        <p:nvSpPr>
          <p:cNvPr id="17454" name="Oval 17453">
            <a:extLst>
              <a:ext uri="{FF2B5EF4-FFF2-40B4-BE49-F238E27FC236}">
                <a16:creationId xmlns:a16="http://schemas.microsoft.com/office/drawing/2014/main" id="{66AE398C-4625-6E0D-3AED-5EBC0C53D4BC}"/>
              </a:ext>
            </a:extLst>
          </p:cNvPr>
          <p:cNvSpPr/>
          <p:nvPr/>
        </p:nvSpPr>
        <p:spPr>
          <a:xfrm>
            <a:off x="2803942" y="5513831"/>
            <a:ext cx="274320" cy="27432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6" name="Picture 17455" descr="9bfac9a7.png">
            <a:extLst>
              <a:ext uri="{FF2B5EF4-FFF2-40B4-BE49-F238E27FC236}">
                <a16:creationId xmlns:a16="http://schemas.microsoft.com/office/drawing/2014/main" id="{18EE0243-F47C-F8D8-A020-148DEF4BCC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45090" y="5554979"/>
            <a:ext cx="192024" cy="192024"/>
          </a:xfrm>
          <a:prstGeom prst="rect">
            <a:avLst/>
          </a:prstGeom>
        </p:spPr>
      </p:pic>
      <p:sp>
        <p:nvSpPr>
          <p:cNvPr id="17458" name="TextBox 17457">
            <a:extLst>
              <a:ext uri="{FF2B5EF4-FFF2-40B4-BE49-F238E27FC236}">
                <a16:creationId xmlns:a16="http://schemas.microsoft.com/office/drawing/2014/main" id="{85CEDA0B-F4FC-7CF8-C29A-F383A16A0DAD}"/>
              </a:ext>
            </a:extLst>
          </p:cNvPr>
          <p:cNvSpPr txBox="1"/>
          <p:nvPr/>
        </p:nvSpPr>
        <p:spPr>
          <a:xfrm>
            <a:off x="2152758" y="5828675"/>
            <a:ext cx="1576686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IN" sz="840" b="1" kern="0" dirty="0">
                <a:solidFill>
                  <a:srgbClr val="0B2E27"/>
                </a:solidFill>
                <a:latin typeface="Cambria"/>
                <a:ea typeface="Cambria"/>
                <a:cs typeface="Calibri"/>
              </a:rPr>
              <a:t>Dictionary</a:t>
            </a:r>
            <a:endParaRPr sz="840" b="1" i="0" u="none" kern="0" dirty="0">
              <a:solidFill>
                <a:srgbClr val="0B2E2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460" name="TextBox 17459">
            <a:extLst>
              <a:ext uri="{FF2B5EF4-FFF2-40B4-BE49-F238E27FC236}">
                <a16:creationId xmlns:a16="http://schemas.microsoft.com/office/drawing/2014/main" id="{9CD0679C-D8F6-82D7-2BC1-AD83D4E907EC}"/>
              </a:ext>
            </a:extLst>
          </p:cNvPr>
          <p:cNvSpPr txBox="1"/>
          <p:nvPr/>
        </p:nvSpPr>
        <p:spPr>
          <a:xfrm>
            <a:off x="2016467" y="5961278"/>
            <a:ext cx="1849267" cy="335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740" b="0" i="0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Text + pronunciation + audio</a:t>
            </a:r>
            <a:endParaRPr lang="en-IN" sz="740" b="0" i="0" u="none" kern="0" dirty="0">
              <a:solidFill>
                <a:srgbClr val="5E6B65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Bilingual Worksheets</a:t>
            </a:r>
            <a:br>
              <a:rPr lang="en-US" sz="7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7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Auto-generated · NIPUN Bharat-aligned</a:t>
            </a:r>
            <a:endParaRPr lang="en-US" sz="750" b="0" i="0" u="none" kern="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62" name="Oval 17461">
            <a:extLst>
              <a:ext uri="{FF2B5EF4-FFF2-40B4-BE49-F238E27FC236}">
                <a16:creationId xmlns:a16="http://schemas.microsoft.com/office/drawing/2014/main" id="{00E9CFE7-34B8-CBAC-9B13-63FB814A8A99}"/>
              </a:ext>
            </a:extLst>
          </p:cNvPr>
          <p:cNvSpPr/>
          <p:nvPr/>
        </p:nvSpPr>
        <p:spPr>
          <a:xfrm>
            <a:off x="4380629" y="5513831"/>
            <a:ext cx="274320" cy="27432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4" name="Picture 17463" descr="d5933ebd.png">
            <a:extLst>
              <a:ext uri="{FF2B5EF4-FFF2-40B4-BE49-F238E27FC236}">
                <a16:creationId xmlns:a16="http://schemas.microsoft.com/office/drawing/2014/main" id="{DFB39D4C-5D88-0240-FC38-FC1E59A82A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1777" y="5554979"/>
            <a:ext cx="192024" cy="192024"/>
          </a:xfrm>
          <a:prstGeom prst="rect">
            <a:avLst/>
          </a:prstGeom>
        </p:spPr>
      </p:pic>
      <p:sp>
        <p:nvSpPr>
          <p:cNvPr id="17466" name="TextBox 17465">
            <a:extLst>
              <a:ext uri="{FF2B5EF4-FFF2-40B4-BE49-F238E27FC236}">
                <a16:creationId xmlns:a16="http://schemas.microsoft.com/office/drawing/2014/main" id="{A227AB45-04A7-9104-BB79-39B9A1E0A769}"/>
              </a:ext>
            </a:extLst>
          </p:cNvPr>
          <p:cNvSpPr txBox="1"/>
          <p:nvPr/>
        </p:nvSpPr>
        <p:spPr>
          <a:xfrm>
            <a:off x="3729445" y="5828675"/>
            <a:ext cx="1576686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IN" sz="840" b="1" i="0" u="none" kern="0" dirty="0">
                <a:solidFill>
                  <a:srgbClr val="0B2E27"/>
                </a:solidFill>
                <a:latin typeface="Cambria"/>
                <a:ea typeface="Cambria"/>
                <a:cs typeface="Calibri"/>
              </a:rPr>
              <a:t>Curriculum</a:t>
            </a:r>
            <a:endParaRPr sz="840" b="1" i="0" u="none" kern="0" dirty="0">
              <a:solidFill>
                <a:srgbClr val="0B2E2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0A3D005F-8383-E6E7-3B74-F0C5AFEF380B}"/>
              </a:ext>
            </a:extLst>
          </p:cNvPr>
          <p:cNvSpPr txBox="1"/>
          <p:nvPr/>
        </p:nvSpPr>
        <p:spPr>
          <a:xfrm>
            <a:off x="3766021" y="5989320"/>
            <a:ext cx="15035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700" b="1">
                <a:solidFill>
                  <a:schemeClr val="tx1">
                    <a:lumMod val="50000"/>
                    <a:lumOff val="50000"/>
                  </a:schemeClr>
                </a:solidFill>
              </a:rPr>
              <a:t>Bilingual Worksheets</a:t>
            </a:r>
            <a:b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Auto-generated · NIPUN Bharat-aligned</a:t>
            </a:r>
            <a:endParaRPr lang="en-US" sz="700" kern="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70" name="Oval 17469">
            <a:extLst>
              <a:ext uri="{FF2B5EF4-FFF2-40B4-BE49-F238E27FC236}">
                <a16:creationId xmlns:a16="http://schemas.microsoft.com/office/drawing/2014/main" id="{9ADE48D2-286F-D01D-0422-073574523776}"/>
              </a:ext>
            </a:extLst>
          </p:cNvPr>
          <p:cNvSpPr/>
          <p:nvPr/>
        </p:nvSpPr>
        <p:spPr>
          <a:xfrm>
            <a:off x="5957316" y="5513831"/>
            <a:ext cx="274320" cy="274320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72" name="Picture 17471" descr="d17b62e8.png">
            <a:extLst>
              <a:ext uri="{FF2B5EF4-FFF2-40B4-BE49-F238E27FC236}">
                <a16:creationId xmlns:a16="http://schemas.microsoft.com/office/drawing/2014/main" id="{50D32256-6334-3C8F-9555-45A1479CE1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8464" y="5554979"/>
            <a:ext cx="192024" cy="192024"/>
          </a:xfrm>
          <a:prstGeom prst="rect">
            <a:avLst/>
          </a:prstGeom>
        </p:spPr>
      </p:pic>
      <p:sp>
        <p:nvSpPr>
          <p:cNvPr id="17474" name="TextBox 17473">
            <a:extLst>
              <a:ext uri="{FF2B5EF4-FFF2-40B4-BE49-F238E27FC236}">
                <a16:creationId xmlns:a16="http://schemas.microsoft.com/office/drawing/2014/main" id="{3F1D7A15-D32C-39DC-DC0F-094C2593E3EA}"/>
              </a:ext>
            </a:extLst>
          </p:cNvPr>
          <p:cNvSpPr txBox="1"/>
          <p:nvPr/>
        </p:nvSpPr>
        <p:spPr>
          <a:xfrm>
            <a:off x="5306132" y="5828675"/>
            <a:ext cx="1576686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04  </a:t>
            </a:r>
            <a:r>
              <a:rPr sz="840" b="1" i="0" u="none" kern="0" dirty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Scan &amp; </a:t>
            </a:r>
            <a:r>
              <a:rPr lang="en-IN" sz="840" b="1" i="0" u="none" kern="0" dirty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Voice Translation</a:t>
            </a:r>
            <a:endParaRPr sz="840" b="1" i="0" u="none" kern="0" dirty="0">
              <a:solidFill>
                <a:srgbClr val="0B2E2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B98DA93F-5454-621B-F0CB-09CB22871B36}"/>
              </a:ext>
            </a:extLst>
          </p:cNvPr>
          <p:cNvSpPr txBox="1"/>
          <p:nvPr/>
        </p:nvSpPr>
        <p:spPr>
          <a:xfrm>
            <a:off x="5342707" y="5989320"/>
            <a:ext cx="1576687" cy="227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740" b="0" i="0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Camera → OCR → verified or flagged</a:t>
            </a:r>
            <a:endParaRPr lang="en-IN" sz="740" b="0" i="0" u="none" kern="0" dirty="0">
              <a:solidFill>
                <a:srgbClr val="5E6B65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Hindi ↔ Tribal language · ≤3 sec target</a:t>
            </a:r>
            <a:endParaRPr sz="740" b="0" i="0" u="none" kern="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78" name="Oval 17477">
            <a:extLst>
              <a:ext uri="{FF2B5EF4-FFF2-40B4-BE49-F238E27FC236}">
                <a16:creationId xmlns:a16="http://schemas.microsoft.com/office/drawing/2014/main" id="{28CF15B6-79F6-0392-389B-DAE8E30FFD0F}"/>
              </a:ext>
            </a:extLst>
          </p:cNvPr>
          <p:cNvSpPr/>
          <p:nvPr/>
        </p:nvSpPr>
        <p:spPr>
          <a:xfrm>
            <a:off x="7534002" y="5513831"/>
            <a:ext cx="274320" cy="2743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80" name="Picture 17479" descr="bf924631.png">
            <a:extLst>
              <a:ext uri="{FF2B5EF4-FFF2-40B4-BE49-F238E27FC236}">
                <a16:creationId xmlns:a16="http://schemas.microsoft.com/office/drawing/2014/main" id="{4DB35C4F-C004-6919-CDAB-AEA55DD1AC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75150" y="5554979"/>
            <a:ext cx="192024" cy="192024"/>
          </a:xfrm>
          <a:prstGeom prst="rect">
            <a:avLst/>
          </a:prstGeom>
        </p:spPr>
      </p:pic>
      <p:sp>
        <p:nvSpPr>
          <p:cNvPr id="17482" name="TextBox 17481">
            <a:extLst>
              <a:ext uri="{FF2B5EF4-FFF2-40B4-BE49-F238E27FC236}">
                <a16:creationId xmlns:a16="http://schemas.microsoft.com/office/drawing/2014/main" id="{F72227FC-7B0D-6232-D98E-8013BC203FF6}"/>
              </a:ext>
            </a:extLst>
          </p:cNvPr>
          <p:cNvSpPr txBox="1"/>
          <p:nvPr/>
        </p:nvSpPr>
        <p:spPr>
          <a:xfrm>
            <a:off x="6882819" y="5806440"/>
            <a:ext cx="157668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05  </a:t>
            </a:r>
            <a:r>
              <a:rPr sz="84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Flashcards</a:t>
            </a:r>
          </a:p>
        </p:txBody>
      </p:sp>
      <p:sp>
        <p:nvSpPr>
          <p:cNvPr id="17484" name="TextBox 17483">
            <a:extLst>
              <a:ext uri="{FF2B5EF4-FFF2-40B4-BE49-F238E27FC236}">
                <a16:creationId xmlns:a16="http://schemas.microsoft.com/office/drawing/2014/main" id="{EB2EF2F2-7B88-B06A-6FA3-64F76144C0CB}"/>
              </a:ext>
            </a:extLst>
          </p:cNvPr>
          <p:cNvSpPr txBox="1"/>
          <p:nvPr/>
        </p:nvSpPr>
        <p:spPr>
          <a:xfrm>
            <a:off x="6919395" y="5989320"/>
            <a:ext cx="150353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Picture + word + audio</a:t>
            </a:r>
          </a:p>
        </p:txBody>
      </p:sp>
      <p:sp>
        <p:nvSpPr>
          <p:cNvPr id="17486" name="Oval 17485">
            <a:extLst>
              <a:ext uri="{FF2B5EF4-FFF2-40B4-BE49-F238E27FC236}">
                <a16:creationId xmlns:a16="http://schemas.microsoft.com/office/drawing/2014/main" id="{AE6F81AA-D0FB-2489-A7B9-518FFC186718}"/>
              </a:ext>
            </a:extLst>
          </p:cNvPr>
          <p:cNvSpPr/>
          <p:nvPr/>
        </p:nvSpPr>
        <p:spPr>
          <a:xfrm>
            <a:off x="9110689" y="5513831"/>
            <a:ext cx="274320" cy="274320"/>
          </a:xfrm>
          <a:prstGeom prst="ellipse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88" name="Picture 17487" descr="b573fbfd.png">
            <a:extLst>
              <a:ext uri="{FF2B5EF4-FFF2-40B4-BE49-F238E27FC236}">
                <a16:creationId xmlns:a16="http://schemas.microsoft.com/office/drawing/2014/main" id="{47EA037D-4467-CF16-A978-C904FC41837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1837" y="5554979"/>
            <a:ext cx="192024" cy="192024"/>
          </a:xfrm>
          <a:prstGeom prst="rect">
            <a:avLst/>
          </a:prstGeom>
        </p:spPr>
      </p:pic>
      <p:sp>
        <p:nvSpPr>
          <p:cNvPr id="17490" name="TextBox 17489">
            <a:extLst>
              <a:ext uri="{FF2B5EF4-FFF2-40B4-BE49-F238E27FC236}">
                <a16:creationId xmlns:a16="http://schemas.microsoft.com/office/drawing/2014/main" id="{EA14EACA-3AE7-965F-AD24-E1389591297A}"/>
              </a:ext>
            </a:extLst>
          </p:cNvPr>
          <p:cNvSpPr txBox="1"/>
          <p:nvPr/>
        </p:nvSpPr>
        <p:spPr>
          <a:xfrm>
            <a:off x="8459506" y="5828675"/>
            <a:ext cx="1576686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06  </a:t>
            </a:r>
            <a:r>
              <a:rPr sz="840" b="1" i="0" u="none" kern="0" dirty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Offline </a:t>
            </a:r>
            <a:r>
              <a:rPr lang="en-IN" sz="840" b="1" kern="0" dirty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Dataset</a:t>
            </a:r>
            <a:endParaRPr sz="840" b="1" i="0" u="none" kern="0" dirty="0">
              <a:solidFill>
                <a:srgbClr val="0B2E2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492" name="TextBox 17491">
            <a:extLst>
              <a:ext uri="{FF2B5EF4-FFF2-40B4-BE49-F238E27FC236}">
                <a16:creationId xmlns:a16="http://schemas.microsoft.com/office/drawing/2014/main" id="{ACE4FCDE-73DD-2310-A2DC-1C5617BE2A16}"/>
              </a:ext>
            </a:extLst>
          </p:cNvPr>
          <p:cNvSpPr txBox="1"/>
          <p:nvPr/>
        </p:nvSpPr>
        <p:spPr>
          <a:xfrm>
            <a:off x="8496082" y="5989320"/>
            <a:ext cx="150353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Per-chapter sync ✓</a:t>
            </a:r>
          </a:p>
        </p:txBody>
      </p:sp>
      <p:sp>
        <p:nvSpPr>
          <p:cNvPr id="17494" name="Oval 17493">
            <a:extLst>
              <a:ext uri="{FF2B5EF4-FFF2-40B4-BE49-F238E27FC236}">
                <a16:creationId xmlns:a16="http://schemas.microsoft.com/office/drawing/2014/main" id="{47FCB998-41F1-FC2B-8487-73EB46EC2142}"/>
              </a:ext>
            </a:extLst>
          </p:cNvPr>
          <p:cNvSpPr/>
          <p:nvPr/>
        </p:nvSpPr>
        <p:spPr>
          <a:xfrm>
            <a:off x="10687376" y="5513831"/>
            <a:ext cx="274320" cy="27432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96" name="Picture 17495" descr="db7d195f.png">
            <a:extLst>
              <a:ext uri="{FF2B5EF4-FFF2-40B4-BE49-F238E27FC236}">
                <a16:creationId xmlns:a16="http://schemas.microsoft.com/office/drawing/2014/main" id="{63F4741F-FEFF-AE86-7132-04697A4BAC7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28524" y="5554979"/>
            <a:ext cx="192024" cy="192024"/>
          </a:xfrm>
          <a:prstGeom prst="rect">
            <a:avLst/>
          </a:prstGeom>
        </p:spPr>
      </p:pic>
      <p:sp>
        <p:nvSpPr>
          <p:cNvPr id="17498" name="TextBox 17497">
            <a:extLst>
              <a:ext uri="{FF2B5EF4-FFF2-40B4-BE49-F238E27FC236}">
                <a16:creationId xmlns:a16="http://schemas.microsoft.com/office/drawing/2014/main" id="{F5F22663-3D26-123B-ECAE-45D84A5F2FB7}"/>
              </a:ext>
            </a:extLst>
          </p:cNvPr>
          <p:cNvSpPr txBox="1"/>
          <p:nvPr/>
        </p:nvSpPr>
        <p:spPr>
          <a:xfrm>
            <a:off x="10036193" y="5806440"/>
            <a:ext cx="157668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 i="0" u="none" kern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07  </a:t>
            </a:r>
            <a:r>
              <a:rPr sz="84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About &amp; Confidence</a:t>
            </a:r>
          </a:p>
        </p:txBody>
      </p:sp>
      <p:sp>
        <p:nvSpPr>
          <p:cNvPr id="17500" name="TextBox 17499">
            <a:extLst>
              <a:ext uri="{FF2B5EF4-FFF2-40B4-BE49-F238E27FC236}">
                <a16:creationId xmlns:a16="http://schemas.microsoft.com/office/drawing/2014/main" id="{F932C9D6-E9CA-0AC0-7E9A-70EB13C8706E}"/>
              </a:ext>
            </a:extLst>
          </p:cNvPr>
          <p:cNvSpPr txBox="1"/>
          <p:nvPr/>
        </p:nvSpPr>
        <p:spPr>
          <a:xfrm>
            <a:off x="10072769" y="5989320"/>
            <a:ext cx="150353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Sourcing + what the flag means</a:t>
            </a:r>
          </a:p>
        </p:txBody>
      </p:sp>
      <p:pic>
        <p:nvPicPr>
          <p:cNvPr id="17502" name="Picture 17501">
            <a:extLst>
              <a:ext uri="{FF2B5EF4-FFF2-40B4-BE49-F238E27FC236}">
                <a16:creationId xmlns:a16="http://schemas.microsoft.com/office/drawing/2014/main" id="{EE5DF4BB-6DBB-DC70-F889-32145A60C4A9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 amt="35000"/>
          </a:blip>
          <a:stretch>
            <a:fillRect/>
          </a:stretch>
        </p:blipFill>
        <p:spPr>
          <a:xfrm>
            <a:off x="3764" y="48388"/>
            <a:ext cx="407716" cy="407716"/>
          </a:xfrm>
          <a:prstGeom prst="rect">
            <a:avLst/>
          </a:prstGeom>
        </p:spPr>
      </p:pic>
      <p:sp>
        <p:nvSpPr>
          <p:cNvPr id="31" name="Rounded Rectangle 45">
            <a:extLst>
              <a:ext uri="{FF2B5EF4-FFF2-40B4-BE49-F238E27FC236}">
                <a16:creationId xmlns:a16="http://schemas.microsoft.com/office/drawing/2014/main" id="{2905DF1D-A588-23C0-E77A-97122B51FC15}"/>
              </a:ext>
            </a:extLst>
          </p:cNvPr>
          <p:cNvSpPr/>
          <p:nvPr/>
        </p:nvSpPr>
        <p:spPr>
          <a:xfrm>
            <a:off x="3906425" y="2761486"/>
            <a:ext cx="4417860" cy="2400764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6F5468B-AC39-379D-FC68-5113EDC1C7F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91150" y="2808995"/>
            <a:ext cx="4283974" cy="2336713"/>
          </a:xfrm>
          <a:prstGeom prst="rect">
            <a:avLst/>
          </a:prstGeom>
        </p:spPr>
      </p:pic>
      <p:sp>
        <p:nvSpPr>
          <p:cNvPr id="47" name="Rounded Rectangle 45">
            <a:extLst>
              <a:ext uri="{FF2B5EF4-FFF2-40B4-BE49-F238E27FC236}">
                <a16:creationId xmlns:a16="http://schemas.microsoft.com/office/drawing/2014/main" id="{50822D29-C444-24AA-D34C-13ACCD3D1375}"/>
              </a:ext>
            </a:extLst>
          </p:cNvPr>
          <p:cNvSpPr/>
          <p:nvPr/>
        </p:nvSpPr>
        <p:spPr>
          <a:xfrm>
            <a:off x="411480" y="2803720"/>
            <a:ext cx="3451850" cy="23585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EDD84FD-D1CC-E0FD-37E0-534958961A46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817" t="13046" r="2651" b="7711"/>
          <a:stretch>
            <a:fillRect/>
          </a:stretch>
        </p:blipFill>
        <p:spPr>
          <a:xfrm>
            <a:off x="437080" y="3253522"/>
            <a:ext cx="3377090" cy="1527961"/>
          </a:xfrm>
          <a:prstGeom prst="rect">
            <a:avLst/>
          </a:prstGeom>
        </p:spPr>
      </p:pic>
      <p:sp>
        <p:nvSpPr>
          <p:cNvPr id="59" name="Rounded Rectangle 45">
            <a:extLst>
              <a:ext uri="{FF2B5EF4-FFF2-40B4-BE49-F238E27FC236}">
                <a16:creationId xmlns:a16="http://schemas.microsoft.com/office/drawing/2014/main" id="{65824252-C456-9677-261E-8948C68E8279}"/>
              </a:ext>
            </a:extLst>
          </p:cNvPr>
          <p:cNvSpPr/>
          <p:nvPr/>
        </p:nvSpPr>
        <p:spPr>
          <a:xfrm>
            <a:off x="8380848" y="2806469"/>
            <a:ext cx="3451850" cy="23585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E2C988B-8DBE-8E05-561D-FF01580EB1E3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11319"/>
          <a:stretch>
            <a:fillRect/>
          </a:stretch>
        </p:blipFill>
        <p:spPr>
          <a:xfrm>
            <a:off x="8441585" y="3113920"/>
            <a:ext cx="3349865" cy="1628800"/>
          </a:xfrm>
          <a:prstGeom prst="rect">
            <a:avLst/>
          </a:prstGeom>
        </p:spPr>
      </p:pic>
      <p:sp>
        <p:nvSpPr>
          <p:cNvPr id="17479" name="TextBox 17478">
            <a:extLst>
              <a:ext uri="{FF2B5EF4-FFF2-40B4-BE49-F238E27FC236}">
                <a16:creationId xmlns:a16="http://schemas.microsoft.com/office/drawing/2014/main" id="{957EE163-A521-7987-39CE-4A930262642C}"/>
              </a:ext>
            </a:extLst>
          </p:cNvPr>
          <p:cNvSpPr txBox="1"/>
          <p:nvPr/>
        </p:nvSpPr>
        <p:spPr>
          <a:xfrm>
            <a:off x="1556445" y="2619058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IN" sz="1000" b="1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MAIN APPLICATION</a:t>
            </a:r>
            <a:endParaRPr lang="en-IN" sz="650" b="0" i="0" u="none" kern="0" dirty="0">
              <a:solidFill>
                <a:srgbClr val="5E6B6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83" name="TextBox 17482">
            <a:extLst>
              <a:ext uri="{FF2B5EF4-FFF2-40B4-BE49-F238E27FC236}">
                <a16:creationId xmlns:a16="http://schemas.microsoft.com/office/drawing/2014/main" id="{C6A564C7-5078-4F12-A6D9-C6A31DCA4AB9}"/>
              </a:ext>
            </a:extLst>
          </p:cNvPr>
          <p:cNvSpPr txBox="1"/>
          <p:nvPr/>
        </p:nvSpPr>
        <p:spPr>
          <a:xfrm>
            <a:off x="9343861" y="2610704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IN" sz="1000" b="1" i="0" u="none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ADMIN PANEL FLOW</a:t>
            </a:r>
            <a:endParaRPr sz="650" b="0" i="0" u="none" kern="0" dirty="0">
              <a:solidFill>
                <a:srgbClr val="5E6B6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487" name="Picture 17486">
            <a:extLst>
              <a:ext uri="{FF2B5EF4-FFF2-40B4-BE49-F238E27FC236}">
                <a16:creationId xmlns:a16="http://schemas.microsoft.com/office/drawing/2014/main" id="{EC7647A6-A456-6DBB-1376-B2CD8580C2E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9902" y="424513"/>
            <a:ext cx="1144216" cy="452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3E092C5-2B24-DEB8-175C-F403896E86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F4CCDE4A-AEC1-BD02-34DE-9132CABF4A8F}"/>
              </a:ext>
            </a:extLst>
          </p:cNvPr>
          <p:cNvSpPr/>
          <p:nvPr/>
        </p:nvSpPr>
        <p:spPr>
          <a:xfrm>
            <a:off x="411480" y="1152144"/>
            <a:ext cx="3913632" cy="1938528"/>
          </a:xfrm>
          <a:prstGeom prst="roundRect">
            <a:avLst>
              <a:gd name="adj" fmla="val 4245"/>
            </a:avLst>
          </a:prstGeom>
          <a:solidFill>
            <a:srgbClr val="EAF1EE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CF5611-BDEF-C1B9-A1FF-B0F7DBE14246}"/>
              </a:ext>
            </a:extLst>
          </p:cNvPr>
          <p:cNvSpPr/>
          <p:nvPr/>
        </p:nvSpPr>
        <p:spPr>
          <a:xfrm>
            <a:off x="594360" y="1289304"/>
            <a:ext cx="274320" cy="274320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d3fcf48.png">
            <a:extLst>
              <a:ext uri="{FF2B5EF4-FFF2-40B4-BE49-F238E27FC236}">
                <a16:creationId xmlns:a16="http://schemas.microsoft.com/office/drawing/2014/main" id="{7523A395-ECAD-BE41-D558-29FCD59E7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" y="1330451"/>
            <a:ext cx="192024" cy="1920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5DDFF7-3C05-088B-C6B1-B2675BF5FACE}"/>
              </a:ext>
            </a:extLst>
          </p:cNvPr>
          <p:cNvSpPr txBox="1"/>
          <p:nvPr/>
        </p:nvSpPr>
        <p:spPr>
          <a:xfrm>
            <a:off x="960120" y="1280160"/>
            <a:ext cx="3182112" cy="234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FEASIBILITY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FF7188-B899-6A82-9BA5-CFF32B922D95}"/>
              </a:ext>
            </a:extLst>
          </p:cNvPr>
          <p:cNvSpPr txBox="1"/>
          <p:nvPr/>
        </p:nvSpPr>
        <p:spPr>
          <a:xfrm>
            <a:off x="594360" y="1568640"/>
            <a:ext cx="3547872" cy="160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N" sz="1050" b="1" dirty="0"/>
              <a:t>Technical:</a:t>
            </a:r>
            <a:r>
              <a:rPr lang="en-IN" sz="1050" dirty="0"/>
              <a:t> Open-source core with free-tier services; designed for low-end Android via Chrome.</a:t>
            </a:r>
          </a:p>
          <a:p>
            <a:pPr lvl="0"/>
            <a:r>
              <a:rPr lang="en-IN" sz="1050" b="1" dirty="0"/>
              <a:t>Content: </a:t>
            </a:r>
            <a:r>
              <a:rPr lang="en-IN" sz="1050" dirty="0"/>
              <a:t>Rights-aware mix of official curriculum resources, research/licensed corpora and open educational content.</a:t>
            </a:r>
          </a:p>
          <a:p>
            <a:pPr lvl="0"/>
            <a:r>
              <a:rPr lang="en-IN" sz="1050" b="1" dirty="0"/>
              <a:t>Modular: </a:t>
            </a:r>
            <a:r>
              <a:rPr lang="en-IN" sz="1050" dirty="0"/>
              <a:t>supports the Class 1–5 target range and expands grade-by-grade and language-by-language.</a:t>
            </a:r>
          </a:p>
          <a:p>
            <a:pPr lvl="0"/>
            <a:r>
              <a:rPr lang="en-IN" sz="1050" b="1" dirty="0"/>
              <a:t>Build risk: </a:t>
            </a:r>
            <a:r>
              <a:rPr lang="en-IN" sz="1050" dirty="0"/>
              <a:t>Integration and language validation are the main risks, while core components use proven tech.</a:t>
            </a:r>
          </a:p>
          <a:p>
            <a:pPr lvl="0"/>
            <a:r>
              <a:rPr lang="en-IN" sz="1050" b="1" dirty="0"/>
              <a:t>Demo-ready:</a:t>
            </a:r>
            <a:r>
              <a:rPr lang="en-IN" sz="1050" dirty="0"/>
              <a:t> Phase 1 buildable within the hackathon window.</a:t>
            </a:r>
          </a:p>
          <a:p>
            <a:pPr marL="132588" indent="-132588" algn="l">
              <a:lnSpc>
                <a:spcPct val="92000"/>
              </a:lnSpc>
              <a:spcAft>
                <a:spcPts val="260"/>
              </a:spcAft>
              <a:buClr>
                <a:srgbClr val="F2570A"/>
              </a:buClr>
              <a:buSzPct val="90000"/>
              <a:buFont typeface="Arial" pitchFamily="34" charset="0"/>
              <a:buChar char="•"/>
            </a:pPr>
            <a:endParaRPr lang="en-US"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BC331548-5AB1-FA2A-DD7B-A21A6DD2D784}"/>
              </a:ext>
            </a:extLst>
          </p:cNvPr>
          <p:cNvSpPr/>
          <p:nvPr/>
        </p:nvSpPr>
        <p:spPr>
          <a:xfrm>
            <a:off x="411480" y="3182111"/>
            <a:ext cx="3913632" cy="2029969"/>
          </a:xfrm>
          <a:prstGeom prst="roundRect">
            <a:avLst>
              <a:gd name="adj" fmla="val 4245"/>
            </a:avLst>
          </a:prstGeom>
          <a:solidFill>
            <a:srgbClr val="E9F4F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A28EB1-A464-1345-034A-ED773FA4C161}"/>
              </a:ext>
            </a:extLst>
          </p:cNvPr>
          <p:cNvSpPr/>
          <p:nvPr/>
        </p:nvSpPr>
        <p:spPr>
          <a:xfrm>
            <a:off x="594360" y="3319272"/>
            <a:ext cx="274320" cy="274320"/>
          </a:xfrm>
          <a:prstGeom prst="ellipse">
            <a:avLst/>
          </a:prstGeom>
          <a:solidFill>
            <a:srgbClr val="2E8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6da6a08.png">
            <a:extLst>
              <a:ext uri="{FF2B5EF4-FFF2-40B4-BE49-F238E27FC236}">
                <a16:creationId xmlns:a16="http://schemas.microsoft.com/office/drawing/2014/main" id="{98F02A29-ECBD-2225-B62E-C78080B19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" y="3360420"/>
            <a:ext cx="192024" cy="19202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71B486E-0D50-11AB-F0D3-09DCF20DF92C}"/>
              </a:ext>
            </a:extLst>
          </p:cNvPr>
          <p:cNvSpPr txBox="1"/>
          <p:nvPr/>
        </p:nvSpPr>
        <p:spPr>
          <a:xfrm>
            <a:off x="960120" y="3310128"/>
            <a:ext cx="3182112" cy="234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VIABILITY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99C3C5-A0E5-5DE0-8072-04608B807447}"/>
              </a:ext>
            </a:extLst>
          </p:cNvPr>
          <p:cNvSpPr txBox="1"/>
          <p:nvPr/>
        </p:nvSpPr>
        <p:spPr>
          <a:xfrm>
            <a:off x="574696" y="3598608"/>
            <a:ext cx="3750416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N" sz="1050" b="1" dirty="0"/>
              <a:t>Ready channel:</a:t>
            </a:r>
            <a:r>
              <a:rPr lang="en-IN" sz="1050" dirty="0"/>
              <a:t> 1,041+ PALASH schools, PALASH multilingual education network</a:t>
            </a:r>
          </a:p>
          <a:p>
            <a:pPr lvl="0"/>
            <a:r>
              <a:rPr lang="en-IN" sz="1050" b="1" dirty="0"/>
              <a:t>Policy tailwind: </a:t>
            </a:r>
            <a:r>
              <a:rPr lang="en-IN" sz="1050" dirty="0"/>
              <a:t>supports NEP 2020's recommendation to use the mother tongue / home language wherever possible.</a:t>
            </a:r>
          </a:p>
          <a:p>
            <a:pPr lvl="0"/>
            <a:r>
              <a:rPr lang="en-IN" sz="1050" b="1" dirty="0"/>
              <a:t>Language-agnostic:</a:t>
            </a:r>
            <a:r>
              <a:rPr lang="en-IN" sz="1050" dirty="0"/>
              <a:t> Architecture extends to Odisha, Chhattisgarh, and MP tribal-language programmes.</a:t>
            </a:r>
          </a:p>
          <a:p>
            <a:pPr lvl="0"/>
            <a:r>
              <a:rPr lang="en-IN" sz="1050" b="1" dirty="0"/>
              <a:t>Already recognised:</a:t>
            </a:r>
            <a:r>
              <a:rPr lang="en-IN" sz="1050" dirty="0"/>
              <a:t> Jharkhand tribal-language textbooks catalogued on the National Digital Repository.</a:t>
            </a:r>
          </a:p>
          <a:p>
            <a:pPr lvl="0"/>
            <a:r>
              <a:rPr lang="en-IN" sz="1050" b="1" dirty="0"/>
              <a:t>Sustainable: </a:t>
            </a:r>
            <a:r>
              <a:rPr lang="en-IN" sz="1050" dirty="0"/>
              <a:t>designed for existing Android hardware and an open-source/free-tier prototype stack.</a:t>
            </a:r>
            <a:endParaRPr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71267F-4F7B-6415-963F-77DF02CAF4B3}"/>
              </a:ext>
            </a:extLst>
          </p:cNvPr>
          <p:cNvSpPr txBox="1"/>
          <p:nvPr/>
        </p:nvSpPr>
        <p:spPr>
          <a:xfrm>
            <a:off x="4462272" y="1152144"/>
            <a:ext cx="7315199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00" b="1" i="0" u="none" kern="0" spc="10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POTENTIAL RISKS  &amp;  OUR MITIGATION STRATEGY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78A6904-A9A5-447F-7531-22FE8F58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20097"/>
              </p:ext>
            </p:extLst>
          </p:nvPr>
        </p:nvGraphicFramePr>
        <p:xfrm>
          <a:off x="4462272" y="1371600"/>
          <a:ext cx="7315199" cy="3749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 i="0" spc="8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82296" marR="82296" marT="64008" anchor="ctr">
                    <a:solidFill>
                      <a:srgbClr val="0B2E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i="0" spc="8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82296" marR="82296" marT="64008" anchor="ctr">
                    <a:solidFill>
                      <a:srgbClr val="0B2E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i="0" spc="80">
                          <a:solidFill>
                            <a:srgbClr val="FFFFFF"/>
                          </a:solidFill>
                          <a:latin typeface="Calibri"/>
                        </a:rPr>
                        <a:t>MITIGATION STRATEGY</a:t>
                      </a:r>
                    </a:p>
                  </a:txBody>
                  <a:tcPr marL="82296" marR="82296" marT="64008" anchor="ctr">
                    <a:solidFill>
                      <a:srgbClr val="0B2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19" b="1" i="0" spc="50">
                          <a:solidFill>
                            <a:srgbClr val="B23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64008" anchor="ctr"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900" b="1" i="0" dirty="0">
                          <a:solidFill>
                            <a:srgbClr val="0B2E27"/>
                          </a:solidFill>
                          <a:latin typeface="Calibri"/>
                        </a:rPr>
                        <a:t>Bhashini's live MT/TTS coverage for Mundari is unconfirmed</a:t>
                      </a:r>
                    </a:p>
                  </a:txBody>
                  <a:tcPr marL="82296" marR="82296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1030" b="0" i="0" dirty="0">
                          <a:solidFill>
                            <a:srgbClr val="202624"/>
                          </a:solidFill>
                          <a:latin typeface="Calibri"/>
                        </a:rPr>
                        <a:t>Verify through Bhashini's pipeline-config API before the demo. If Mundari is unavailable, Scan &amp; Translate returns an honest “no verified match” rather than guessing.</a:t>
                      </a:r>
                    </a:p>
                  </a:txBody>
                  <a:tcPr marL="82296" marR="82296" marT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19" b="1" i="0" spc="50">
                          <a:solidFill>
                            <a:srgbClr val="B23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64008" anchor="ctr"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900" b="1" i="0" dirty="0">
                          <a:solidFill>
                            <a:srgbClr val="0B2E27"/>
                          </a:solidFill>
                          <a:latin typeface="Calibri"/>
                        </a:rPr>
                        <a:t>Full JCERT / PALASH catalogue is not bulk-downloadable</a:t>
                      </a:r>
                    </a:p>
                  </a:txBody>
                  <a:tcPr marL="82296" marR="82296" marT="64008" anchor="ctr">
                    <a:solidFill>
                      <a:srgbClr val="F5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1030" b="0" i="0">
                          <a:solidFill>
                            <a:srgbClr val="202624"/>
                          </a:solidFill>
                          <a:latin typeface="Calibri"/>
                        </a:rPr>
                        <a:t>Deployed with 57-row hand-sourced, citation-backed seed corpus. Admin panel ready for expanded corpus import.</a:t>
                      </a:r>
                    </a:p>
                  </a:txBody>
                  <a:tcPr marL="82296" marR="82296" marT="64008" anchor="ctr">
                    <a:solidFill>
                      <a:srgbClr val="F5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19" b="1" i="0" spc="50">
                          <a:solidFill>
                            <a:srgbClr val="C8912E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82296" marR="82296" marT="64008" anchor="ctr"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900" b="1" dirty="0"/>
                        <a:t>TTS quality for tribal languages</a:t>
                      </a:r>
                      <a:endParaRPr sz="900" b="1" i="0" dirty="0">
                        <a:solidFill>
                          <a:srgbClr val="0B2E27"/>
                        </a:solidFill>
                        <a:latin typeface="Calibri"/>
                      </a:endParaRPr>
                    </a:p>
                  </a:txBody>
                  <a:tcPr marL="82296" marR="82296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Validate pronunciation against authoritative references and native reviews, exposing limitations via verification status.</a:t>
                      </a:r>
                      <a:r>
                        <a:rPr sz="103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82296" marR="82296" marT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19" b="1" i="0" spc="50">
                          <a:solidFill>
                            <a:srgbClr val="C8912E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82296" marR="82296" marT="64008" anchor="ctr"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900" b="1" i="0" dirty="0">
                          <a:solidFill>
                            <a:srgbClr val="0B2E27"/>
                          </a:solidFill>
                          <a:latin typeface="Calibri"/>
                        </a:rPr>
                        <a:t>Low digital comfort among some teachers</a:t>
                      </a:r>
                    </a:p>
                  </a:txBody>
                  <a:tcPr marL="82296" marR="82296" marT="64008" anchor="ctr">
                    <a:solidFill>
                      <a:srgbClr val="F5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1030" b="0" i="0" dirty="0">
                          <a:solidFill>
                            <a:srgbClr val="202624"/>
                          </a:solidFill>
                          <a:latin typeface="Calibri"/>
                        </a:rPr>
                        <a:t>One-tap UI, icon-first navigation and voice walkthroughs; training folded into PALASH's existing teacher-training calendar.</a:t>
                      </a:r>
                    </a:p>
                  </a:txBody>
                  <a:tcPr marL="82296" marR="82296" marT="64008" anchor="ctr">
                    <a:solidFill>
                      <a:srgbClr val="F5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19" b="1" i="0" spc="50">
                          <a:solidFill>
                            <a:srgbClr val="2E8B8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64008" anchor="ctr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900" b="1" i="0" dirty="0">
                          <a:solidFill>
                            <a:srgbClr val="0B2E27"/>
                          </a:solidFill>
                          <a:latin typeface="Calibri"/>
                        </a:rPr>
                        <a:t>Connectivity gaps in remote schools</a:t>
                      </a:r>
                    </a:p>
                  </a:txBody>
                  <a:tcPr marL="82296" marR="82296" marT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1030" b="0" i="0">
                          <a:solidFill>
                            <a:srgbClr val="202624"/>
                          </a:solidFill>
                          <a:latin typeface="Calibri"/>
                        </a:rPr>
                        <a:t>Offline-first PWA: one-time sync over any available connection, then full zero-connectivity classroom use afterwards.</a:t>
                      </a:r>
                    </a:p>
                  </a:txBody>
                  <a:tcPr marL="82296" marR="82296" marT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19" b="1" i="0" spc="50" dirty="0">
                          <a:solidFill>
                            <a:srgbClr val="2E8B8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64008" anchor="ctr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3000"/>
                        </a:lnSpc>
                        <a:buNone/>
                      </a:pPr>
                      <a:r>
                        <a:rPr sz="900" b="1" i="0" dirty="0" err="1">
                          <a:solidFill>
                            <a:srgbClr val="0B2E27"/>
                          </a:solidFill>
                          <a:latin typeface="Calibri"/>
                        </a:rPr>
                        <a:t>Licence</a:t>
                      </a:r>
                      <a:r>
                        <a:rPr sz="900" b="1" i="0" dirty="0">
                          <a:solidFill>
                            <a:srgbClr val="0B2E27"/>
                          </a:solidFill>
                          <a:latin typeface="Calibri"/>
                        </a:rPr>
                        <a:t> terms on the corpora we depend on</a:t>
                      </a:r>
                    </a:p>
                  </a:txBody>
                  <a:tcPr marL="82296" marR="82296" marT="64008" anchor="ctr">
                    <a:solidFill>
                      <a:srgbClr val="F5F4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2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Attribution is recorded per asset in the database. </a:t>
                      </a:r>
                      <a:r>
                        <a:rPr sz="102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StoryWeaver</a:t>
                      </a:r>
                      <a:r>
                        <a:rPr sz="102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 is CC-BY-4.0, </a:t>
                      </a:r>
                      <a:r>
                        <a:rPr lang="en-IN" sz="10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Karya is used subject to its stated non-commercial licence terms and attribution requirements.</a:t>
                      </a:r>
                      <a:endParaRPr sz="102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82296" marR="82296" marT="64008" anchor="ctr">
                    <a:solidFill>
                      <a:srgbClr val="F5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EFF01FC9-944D-BBC3-EFE3-1BA1A8AC88FF}"/>
              </a:ext>
            </a:extLst>
          </p:cNvPr>
          <p:cNvSpPr/>
          <p:nvPr/>
        </p:nvSpPr>
        <p:spPr>
          <a:xfrm>
            <a:off x="411480" y="5230368"/>
            <a:ext cx="11365992" cy="1078992"/>
          </a:xfrm>
          <a:prstGeom prst="roundRect">
            <a:avLst>
              <a:gd name="adj" fmla="val 7627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1A9F5D-C1DF-9123-8B3E-511CAE20496F}"/>
              </a:ext>
            </a:extLst>
          </p:cNvPr>
          <p:cNvSpPr txBox="1"/>
          <p:nvPr/>
        </p:nvSpPr>
        <p:spPr>
          <a:xfrm>
            <a:off x="576072" y="5321138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900" b="1" i="0" u="none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DATA-ACQUISITION  &amp;  ROLLOUT ROADMAP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0CC198-5C09-A56C-1C2D-485391F698AF}"/>
              </a:ext>
            </a:extLst>
          </p:cNvPr>
          <p:cNvSpPr txBox="1"/>
          <p:nvPr/>
        </p:nvSpPr>
        <p:spPr>
          <a:xfrm>
            <a:off x="6172200" y="5328832"/>
            <a:ext cx="5422392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lang="en-IN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Prototype uses only accessible/licensed sources; expanded JCERT access follows formal validation.</a:t>
            </a:r>
            <a:endParaRPr sz="780" b="0" i="1" u="none" kern="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ACE2501-1D2E-CE1A-0795-108024A79361}"/>
              </a:ext>
            </a:extLst>
          </p:cNvPr>
          <p:cNvSpPr/>
          <p:nvPr/>
        </p:nvSpPr>
        <p:spPr>
          <a:xfrm>
            <a:off x="576072" y="5577840"/>
            <a:ext cx="310896" cy="310896"/>
          </a:xfrm>
          <a:prstGeom prst="ellipse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d9665eac.png">
            <a:extLst>
              <a:ext uri="{FF2B5EF4-FFF2-40B4-BE49-F238E27FC236}">
                <a16:creationId xmlns:a16="http://schemas.microsoft.com/office/drawing/2014/main" id="{A35E4BBF-0369-155E-D40A-472901400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" y="5624474"/>
            <a:ext cx="217627" cy="21762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4C2CF21-B84D-8DA6-BBB6-0988ED369C87}"/>
              </a:ext>
            </a:extLst>
          </p:cNvPr>
          <p:cNvSpPr txBox="1"/>
          <p:nvPr/>
        </p:nvSpPr>
        <p:spPr>
          <a:xfrm>
            <a:off x="978408" y="5541264"/>
            <a:ext cx="217855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6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PHASE 0 — This week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4C2A80-3D5C-3273-52AD-191D7C34116A}"/>
              </a:ext>
            </a:extLst>
          </p:cNvPr>
          <p:cNvSpPr txBox="1"/>
          <p:nvPr/>
        </p:nvSpPr>
        <p:spPr>
          <a:xfrm>
            <a:off x="978408" y="5742431"/>
            <a:ext cx="216027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800" dirty="0"/>
              <a:t>Download permitted open educational content, integrate available research corpora, and configure Bhashini services for supported languages.</a:t>
            </a:r>
            <a:endParaRPr sz="76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463D39-CBAA-3303-1947-DB0272EDC1DB}"/>
              </a:ext>
            </a:extLst>
          </p:cNvPr>
          <p:cNvSpPr txBox="1"/>
          <p:nvPr/>
        </p:nvSpPr>
        <p:spPr>
          <a:xfrm>
            <a:off x="3156966" y="5577840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 b="1" i="0" u="none" kern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6AB4DDB-257D-2F8F-763C-2CA29240DB83}"/>
              </a:ext>
            </a:extLst>
          </p:cNvPr>
          <p:cNvSpPr/>
          <p:nvPr/>
        </p:nvSpPr>
        <p:spPr>
          <a:xfrm>
            <a:off x="3394710" y="5577840"/>
            <a:ext cx="310896" cy="310896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4c50b085.png">
            <a:extLst>
              <a:ext uri="{FF2B5EF4-FFF2-40B4-BE49-F238E27FC236}">
                <a16:creationId xmlns:a16="http://schemas.microsoft.com/office/drawing/2014/main" id="{F015D0F5-37E9-5532-9561-04CE4239D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344" y="5624474"/>
            <a:ext cx="217627" cy="21762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5CB0E2E-48A7-605D-FFAA-91414C528D51}"/>
              </a:ext>
            </a:extLst>
          </p:cNvPr>
          <p:cNvSpPr txBox="1"/>
          <p:nvPr/>
        </p:nvSpPr>
        <p:spPr>
          <a:xfrm>
            <a:off x="3797046" y="5541264"/>
            <a:ext cx="217855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6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PHASE 1 — SIH prototype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BA8768-5EA1-0B46-AEFF-A25855134680}"/>
              </a:ext>
            </a:extLst>
          </p:cNvPr>
          <p:cNvSpPr txBox="1"/>
          <p:nvPr/>
        </p:nvSpPr>
        <p:spPr>
          <a:xfrm>
            <a:off x="3797046" y="5742431"/>
            <a:ext cx="22334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800" dirty="0"/>
              <a:t>Build the source-linked retrieval index over available research/open content and selected JCERT curriculum references; demo the verified-first workflow.</a:t>
            </a:r>
            <a:endParaRPr sz="76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9657AF-BBBB-6004-7F7B-065F3ABF60A4}"/>
              </a:ext>
            </a:extLst>
          </p:cNvPr>
          <p:cNvSpPr txBox="1"/>
          <p:nvPr/>
        </p:nvSpPr>
        <p:spPr>
          <a:xfrm>
            <a:off x="5975604" y="5577840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 b="1" i="0" u="none" kern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404067B-6538-2C3E-5EC0-76F90A447DC4}"/>
              </a:ext>
            </a:extLst>
          </p:cNvPr>
          <p:cNvSpPr/>
          <p:nvPr/>
        </p:nvSpPr>
        <p:spPr>
          <a:xfrm>
            <a:off x="6213348" y="5577840"/>
            <a:ext cx="310896" cy="310896"/>
          </a:xfrm>
          <a:prstGeom prst="ellipse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db7d195f.png">
            <a:extLst>
              <a:ext uri="{FF2B5EF4-FFF2-40B4-BE49-F238E27FC236}">
                <a16:creationId xmlns:a16="http://schemas.microsoft.com/office/drawing/2014/main" id="{F8E8C763-7715-CF9C-99D8-054E0582B3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9982" y="5624474"/>
            <a:ext cx="217627" cy="217627"/>
          </a:xfrm>
          <a:prstGeom prst="rect">
            <a:avLst/>
          </a:prstGeom>
        </p:spPr>
      </p:pic>
      <p:sp>
        <p:nvSpPr>
          <p:cNvPr id="17408" name="TextBox 17407">
            <a:extLst>
              <a:ext uri="{FF2B5EF4-FFF2-40B4-BE49-F238E27FC236}">
                <a16:creationId xmlns:a16="http://schemas.microsoft.com/office/drawing/2014/main" id="{F201A2EC-4853-5186-EC3F-4C43D8692C5F}"/>
              </a:ext>
            </a:extLst>
          </p:cNvPr>
          <p:cNvSpPr txBox="1"/>
          <p:nvPr/>
        </p:nvSpPr>
        <p:spPr>
          <a:xfrm>
            <a:off x="6615684" y="5541264"/>
            <a:ext cx="217855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6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PHASE 2 — Formal partnership</a:t>
            </a: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83714BE5-41A9-0533-9784-A14E8295A189}"/>
              </a:ext>
            </a:extLst>
          </p:cNvPr>
          <p:cNvSpPr txBox="1"/>
          <p:nvPr/>
        </p:nvSpPr>
        <p:spPr>
          <a:xfrm>
            <a:off x="6615684" y="5742431"/>
            <a:ext cx="232486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800" dirty="0"/>
              <a:t>Formal partnership with JCERT / Department of Higher &amp; Technical Education for expanded Class 1–5 curriculum access and validation.</a:t>
            </a:r>
            <a:endParaRPr sz="76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2C2B8B26-8774-7E43-E590-9B41477D5D70}"/>
              </a:ext>
            </a:extLst>
          </p:cNvPr>
          <p:cNvSpPr txBox="1"/>
          <p:nvPr/>
        </p:nvSpPr>
        <p:spPr>
          <a:xfrm>
            <a:off x="8794242" y="5577840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 b="1" i="0" u="none" kern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7416" name="Oval 17415">
            <a:extLst>
              <a:ext uri="{FF2B5EF4-FFF2-40B4-BE49-F238E27FC236}">
                <a16:creationId xmlns:a16="http://schemas.microsoft.com/office/drawing/2014/main" id="{C2C767F6-3025-F2D5-BC1A-8975082F2470}"/>
              </a:ext>
            </a:extLst>
          </p:cNvPr>
          <p:cNvSpPr/>
          <p:nvPr/>
        </p:nvSpPr>
        <p:spPr>
          <a:xfrm>
            <a:off x="9031986" y="5577840"/>
            <a:ext cx="310896" cy="3108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8" name="Picture 17417" descr="fbebca1f.png">
            <a:extLst>
              <a:ext uri="{FF2B5EF4-FFF2-40B4-BE49-F238E27FC236}">
                <a16:creationId xmlns:a16="http://schemas.microsoft.com/office/drawing/2014/main" id="{24E33376-36E6-F708-FF1C-9C4BB50CEE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8620" y="5624474"/>
            <a:ext cx="217627" cy="217627"/>
          </a:xfrm>
          <a:prstGeom prst="rect">
            <a:avLst/>
          </a:prstGeom>
        </p:spPr>
      </p:pic>
      <p:sp>
        <p:nvSpPr>
          <p:cNvPr id="17420" name="TextBox 17419">
            <a:extLst>
              <a:ext uri="{FF2B5EF4-FFF2-40B4-BE49-F238E27FC236}">
                <a16:creationId xmlns:a16="http://schemas.microsoft.com/office/drawing/2014/main" id="{2B01CAB7-3F33-F6EC-939D-E6189F3B070E}"/>
              </a:ext>
            </a:extLst>
          </p:cNvPr>
          <p:cNvSpPr txBox="1"/>
          <p:nvPr/>
        </p:nvSpPr>
        <p:spPr>
          <a:xfrm>
            <a:off x="9434322" y="5541264"/>
            <a:ext cx="217855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6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PHASE 3 — Beyond Jharkhand</a:t>
            </a: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59998007-337D-E32C-D88B-7A41D75813CE}"/>
              </a:ext>
            </a:extLst>
          </p:cNvPr>
          <p:cNvSpPr txBox="1"/>
          <p:nvPr/>
        </p:nvSpPr>
        <p:spPr>
          <a:xfrm>
            <a:off x="9434322" y="5742431"/>
            <a:ext cx="216027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760" b="0" i="0" u="none" kern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Re-point the same pipeline at Odisha, Chhattisgarh and MP tribal-language programmes.</a:t>
            </a:r>
          </a:p>
        </p:txBody>
      </p:sp>
      <p:pic>
        <p:nvPicPr>
          <p:cNvPr id="17424" name="Picture 17423">
            <a:extLst>
              <a:ext uri="{FF2B5EF4-FFF2-40B4-BE49-F238E27FC236}">
                <a16:creationId xmlns:a16="http://schemas.microsoft.com/office/drawing/2014/main" id="{D9970FAA-4B3F-C499-BAF8-F5DB8197E7D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</a:blip>
          <a:stretch>
            <a:fillRect/>
          </a:stretch>
        </p:blipFill>
        <p:spPr>
          <a:xfrm>
            <a:off x="3764" y="48388"/>
            <a:ext cx="407716" cy="407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52A0BF-4947-8B3D-EA83-532DB0FF5B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902" y="424513"/>
            <a:ext cx="1144216" cy="4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1FBBC5C-3797-7C72-95E2-47F806007D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B62F4F9-33E8-616F-D559-C59DBF24837E}"/>
              </a:ext>
            </a:extLst>
          </p:cNvPr>
          <p:cNvSpPr/>
          <p:nvPr/>
        </p:nvSpPr>
        <p:spPr>
          <a:xfrm>
            <a:off x="411480" y="1152144"/>
            <a:ext cx="2759202" cy="1097280"/>
          </a:xfrm>
          <a:prstGeom prst="roundRect">
            <a:avLst>
              <a:gd name="adj" fmla="val 7500"/>
            </a:avLst>
          </a:prstGeom>
          <a:solidFill>
            <a:srgbClr val="FDEDE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0D79D1-EAA9-0733-7798-3568852D9F73}"/>
              </a:ext>
            </a:extLst>
          </p:cNvPr>
          <p:cNvSpPr/>
          <p:nvPr/>
        </p:nvSpPr>
        <p:spPr>
          <a:xfrm>
            <a:off x="557784" y="1252728"/>
            <a:ext cx="274320" cy="274320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2aaf843.png">
            <a:extLst>
              <a:ext uri="{FF2B5EF4-FFF2-40B4-BE49-F238E27FC236}">
                <a16:creationId xmlns:a16="http://schemas.microsoft.com/office/drawing/2014/main" id="{E14F5989-58E9-D8FE-04FB-0F7847750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1293876"/>
            <a:ext cx="192024" cy="1920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59B334-F9F8-AE5E-CB38-4DDFDCD77FF1}"/>
              </a:ext>
            </a:extLst>
          </p:cNvPr>
          <p:cNvSpPr txBox="1"/>
          <p:nvPr/>
        </p:nvSpPr>
        <p:spPr>
          <a:xfrm>
            <a:off x="905256" y="1243584"/>
            <a:ext cx="2119122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Teachers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ECA975-D8B2-B6C0-943B-AD7D7F44EC9A}"/>
              </a:ext>
            </a:extLst>
          </p:cNvPr>
          <p:cNvSpPr txBox="1"/>
          <p:nvPr/>
        </p:nvSpPr>
        <p:spPr>
          <a:xfrm>
            <a:off x="557784" y="1591056"/>
            <a:ext cx="2576322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/>
              <a:t>Teachers get instant Hindi↔Mundari translation with confidence scores, searchable dictionary, and curriculum browser</a:t>
            </a:r>
            <a:endParaRPr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B89F2088-F768-4F3C-5F6B-BCA01F40B670}"/>
              </a:ext>
            </a:extLst>
          </p:cNvPr>
          <p:cNvSpPr/>
          <p:nvPr/>
        </p:nvSpPr>
        <p:spPr>
          <a:xfrm>
            <a:off x="3280410" y="1152144"/>
            <a:ext cx="2759202" cy="1097280"/>
          </a:xfrm>
          <a:prstGeom prst="roundRect">
            <a:avLst>
              <a:gd name="adj" fmla="val 7500"/>
            </a:avLst>
          </a:prstGeom>
          <a:solidFill>
            <a:srgbClr val="EAF1EE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DD7498-8C06-C6A9-1F02-2E12C54AA591}"/>
              </a:ext>
            </a:extLst>
          </p:cNvPr>
          <p:cNvSpPr/>
          <p:nvPr/>
        </p:nvSpPr>
        <p:spPr>
          <a:xfrm>
            <a:off x="3426714" y="1252728"/>
            <a:ext cx="274320" cy="274320"/>
          </a:xfrm>
          <a:prstGeom prst="ellipse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cfdcf7a.png">
            <a:extLst>
              <a:ext uri="{FF2B5EF4-FFF2-40B4-BE49-F238E27FC236}">
                <a16:creationId xmlns:a16="http://schemas.microsoft.com/office/drawing/2014/main" id="{9BCAA5E9-0675-B984-9425-64AC71433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862" y="1293876"/>
            <a:ext cx="192024" cy="19202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BA007B-510A-049F-2EC6-81EE8289500A}"/>
              </a:ext>
            </a:extLst>
          </p:cNvPr>
          <p:cNvSpPr txBox="1"/>
          <p:nvPr/>
        </p:nvSpPr>
        <p:spPr>
          <a:xfrm>
            <a:off x="3774186" y="1243584"/>
            <a:ext cx="2119122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Students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7AA2A2-6AD0-346D-B172-E72834FCDA1A}"/>
              </a:ext>
            </a:extLst>
          </p:cNvPr>
          <p:cNvSpPr txBox="1"/>
          <p:nvPr/>
        </p:nvSpPr>
        <p:spPr>
          <a:xfrm>
            <a:off x="3308729" y="1591056"/>
            <a:ext cx="275920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00" dirty="0"/>
              <a:t>Students benefit from flashcard practice, bilingual worksheets, and offline-ready content after first download</a:t>
            </a:r>
            <a:endParaRPr sz="100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8DF39823-0337-BAF8-44F5-C2917E55048A}"/>
              </a:ext>
            </a:extLst>
          </p:cNvPr>
          <p:cNvSpPr/>
          <p:nvPr/>
        </p:nvSpPr>
        <p:spPr>
          <a:xfrm>
            <a:off x="6149340" y="1152144"/>
            <a:ext cx="2759202" cy="1097280"/>
          </a:xfrm>
          <a:prstGeom prst="roundRect">
            <a:avLst>
              <a:gd name="adj" fmla="val 7500"/>
            </a:avLst>
          </a:prstGeom>
          <a:solidFill>
            <a:srgbClr val="FBF1DF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CE6C870-8EDC-4721-A769-0B41960F565E}"/>
              </a:ext>
            </a:extLst>
          </p:cNvPr>
          <p:cNvSpPr/>
          <p:nvPr/>
        </p:nvSpPr>
        <p:spPr>
          <a:xfrm>
            <a:off x="6295644" y="1252728"/>
            <a:ext cx="274320" cy="274320"/>
          </a:xfrm>
          <a:prstGeom prst="ellipse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7be86d0b.png">
            <a:extLst>
              <a:ext uri="{FF2B5EF4-FFF2-40B4-BE49-F238E27FC236}">
                <a16:creationId xmlns:a16="http://schemas.microsoft.com/office/drawing/2014/main" id="{737B7DF1-C632-4727-3A03-850A5D5AF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1293876"/>
            <a:ext cx="192024" cy="1920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B8F1254-0C67-F435-A357-566ABAF8B554}"/>
              </a:ext>
            </a:extLst>
          </p:cNvPr>
          <p:cNvSpPr txBox="1"/>
          <p:nvPr/>
        </p:nvSpPr>
        <p:spPr>
          <a:xfrm>
            <a:off x="6643116" y="1243584"/>
            <a:ext cx="2119122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JCERT &amp; PALASH</a:t>
            </a:r>
          </a:p>
        </p:txBody>
      </p:sp>
      <p:sp>
        <p:nvSpPr>
          <p:cNvPr id="40" name="Rounded Rectangle 22">
            <a:extLst>
              <a:ext uri="{FF2B5EF4-FFF2-40B4-BE49-F238E27FC236}">
                <a16:creationId xmlns:a16="http://schemas.microsoft.com/office/drawing/2014/main" id="{BCA075E4-6165-CE93-BCCD-392BE6C9A062}"/>
              </a:ext>
            </a:extLst>
          </p:cNvPr>
          <p:cNvSpPr/>
          <p:nvPr/>
        </p:nvSpPr>
        <p:spPr>
          <a:xfrm>
            <a:off x="9018270" y="1152144"/>
            <a:ext cx="2759202" cy="1097280"/>
          </a:xfrm>
          <a:prstGeom prst="roundRect">
            <a:avLst>
              <a:gd name="adj" fmla="val 7500"/>
            </a:avLst>
          </a:prstGeom>
          <a:solidFill>
            <a:srgbClr val="F1EAF8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7AC45C8-9BC3-933E-F344-CAD62AC5C69E}"/>
              </a:ext>
            </a:extLst>
          </p:cNvPr>
          <p:cNvSpPr/>
          <p:nvPr/>
        </p:nvSpPr>
        <p:spPr>
          <a:xfrm>
            <a:off x="9164574" y="1252728"/>
            <a:ext cx="274320" cy="27432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bebca1f.png">
            <a:extLst>
              <a:ext uri="{FF2B5EF4-FFF2-40B4-BE49-F238E27FC236}">
                <a16:creationId xmlns:a16="http://schemas.microsoft.com/office/drawing/2014/main" id="{EF2541BE-A3CF-5AD0-6A2A-F20397C0E4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5722" y="1293876"/>
            <a:ext cx="192024" cy="19202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1FCFA0B-5D5D-C57B-8B48-8FE17FA020BE}"/>
              </a:ext>
            </a:extLst>
          </p:cNvPr>
          <p:cNvSpPr txBox="1"/>
          <p:nvPr/>
        </p:nvSpPr>
        <p:spPr>
          <a:xfrm>
            <a:off x="9512046" y="1243584"/>
            <a:ext cx="2119122" cy="2283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Beyond Jharkhand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51D2BB-8BEC-0473-193E-968C54076533}"/>
              </a:ext>
            </a:extLst>
          </p:cNvPr>
          <p:cNvSpPr txBox="1"/>
          <p:nvPr/>
        </p:nvSpPr>
        <p:spPr>
          <a:xfrm>
            <a:off x="6410740" y="1542410"/>
            <a:ext cx="2576322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/>
              <a:t>Admin dashboard for content management with rights-clearance workflow and complete audit trail</a:t>
            </a:r>
            <a:endParaRPr sz="1050" b="0" i="0" u="none" kern="0" dirty="0">
              <a:solidFill>
                <a:srgbClr val="202624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FD6F56F4-9B8C-99F1-E281-CFFA1A70040E}"/>
              </a:ext>
            </a:extLst>
          </p:cNvPr>
          <p:cNvSpPr/>
          <p:nvPr/>
        </p:nvSpPr>
        <p:spPr>
          <a:xfrm>
            <a:off x="411480" y="2359152"/>
            <a:ext cx="2192731" cy="2139696"/>
          </a:xfrm>
          <a:prstGeom prst="roundRect">
            <a:avLst>
              <a:gd name="adj" fmla="val 3846"/>
            </a:avLst>
          </a:prstGeom>
          <a:solidFill>
            <a:srgbClr val="FBF1DF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41CB20E-F6F0-386A-9A20-F29805C6D4CC}"/>
              </a:ext>
            </a:extLst>
          </p:cNvPr>
          <p:cNvSpPr/>
          <p:nvPr/>
        </p:nvSpPr>
        <p:spPr>
          <a:xfrm>
            <a:off x="1315821" y="2478024"/>
            <a:ext cx="384048" cy="384048"/>
          </a:xfrm>
          <a:prstGeom prst="ellipse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c2b60aed.png">
            <a:extLst>
              <a:ext uri="{FF2B5EF4-FFF2-40B4-BE49-F238E27FC236}">
                <a16:creationId xmlns:a16="http://schemas.microsoft.com/office/drawing/2014/main" id="{157B896B-6B31-6442-23C2-EFAB170917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3428" y="2535631"/>
            <a:ext cx="268833" cy="2688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39F917A-97FA-935A-0B87-52A3F5B65632}"/>
              </a:ext>
            </a:extLst>
          </p:cNvPr>
          <p:cNvSpPr txBox="1"/>
          <p:nvPr/>
        </p:nvSpPr>
        <p:spPr>
          <a:xfrm>
            <a:off x="411480" y="2916936"/>
            <a:ext cx="219273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 u="none" kern="0">
                <a:solidFill>
                  <a:srgbClr val="C8912E"/>
                </a:solidFill>
                <a:latin typeface="Cambria"/>
                <a:ea typeface="Cambria"/>
                <a:cs typeface="Cambria"/>
              </a:rPr>
              <a:t>Social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7F6275-6B90-9BED-FEBF-6104E8B8B748}"/>
              </a:ext>
            </a:extLst>
          </p:cNvPr>
          <p:cNvSpPr/>
          <p:nvPr/>
        </p:nvSpPr>
        <p:spPr>
          <a:xfrm>
            <a:off x="1233525" y="3163824"/>
            <a:ext cx="548640" cy="10058"/>
          </a:xfrm>
          <a:prstGeom prst="rect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00C3DC-F772-45E0-BCE2-93839BE8FF85}"/>
              </a:ext>
            </a:extLst>
          </p:cNvPr>
          <p:cNvSpPr txBox="1"/>
          <p:nvPr/>
        </p:nvSpPr>
        <p:spPr>
          <a:xfrm>
            <a:off x="539496" y="3236976"/>
            <a:ext cx="1936699" cy="1131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n-IN" sz="1050" dirty="0"/>
              <a:t>Bridges the teacher-language gap inside the 1,041-school PALASH network. Reduces teacher reliance in target tribal languages through pronunciation, translation, and audio support.</a:t>
            </a:r>
            <a:endParaRPr lang="en-US"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Rounded Rectangle 33">
            <a:extLst>
              <a:ext uri="{FF2B5EF4-FFF2-40B4-BE49-F238E27FC236}">
                <a16:creationId xmlns:a16="http://schemas.microsoft.com/office/drawing/2014/main" id="{2ED7C010-B50A-9B15-7DA5-C6A32DC7064D}"/>
              </a:ext>
            </a:extLst>
          </p:cNvPr>
          <p:cNvSpPr/>
          <p:nvPr/>
        </p:nvSpPr>
        <p:spPr>
          <a:xfrm>
            <a:off x="2704795" y="2359152"/>
            <a:ext cx="2192731" cy="2139696"/>
          </a:xfrm>
          <a:prstGeom prst="roundRect">
            <a:avLst>
              <a:gd name="adj" fmla="val 3846"/>
            </a:avLst>
          </a:prstGeom>
          <a:solidFill>
            <a:srgbClr val="E9F4F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08" name="Oval 17407">
            <a:extLst>
              <a:ext uri="{FF2B5EF4-FFF2-40B4-BE49-F238E27FC236}">
                <a16:creationId xmlns:a16="http://schemas.microsoft.com/office/drawing/2014/main" id="{536E1BAE-9994-2F5A-2378-9105DCECEE8F}"/>
              </a:ext>
            </a:extLst>
          </p:cNvPr>
          <p:cNvSpPr/>
          <p:nvPr/>
        </p:nvSpPr>
        <p:spPr>
          <a:xfrm>
            <a:off x="3609136" y="2478024"/>
            <a:ext cx="384048" cy="384048"/>
          </a:xfrm>
          <a:prstGeom prst="ellipse">
            <a:avLst/>
          </a:prstGeom>
          <a:solidFill>
            <a:srgbClr val="2E8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dcfdcf7a.png">
            <a:extLst>
              <a:ext uri="{FF2B5EF4-FFF2-40B4-BE49-F238E27FC236}">
                <a16:creationId xmlns:a16="http://schemas.microsoft.com/office/drawing/2014/main" id="{A7F155E9-5947-ED69-0E4A-E4361E3AF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2535631"/>
            <a:ext cx="268833" cy="268833"/>
          </a:xfrm>
          <a:prstGeom prst="rect">
            <a:avLst/>
          </a:prstGeom>
        </p:spPr>
      </p:pic>
      <p:sp>
        <p:nvSpPr>
          <p:cNvPr id="17414" name="TextBox 17413">
            <a:extLst>
              <a:ext uri="{FF2B5EF4-FFF2-40B4-BE49-F238E27FC236}">
                <a16:creationId xmlns:a16="http://schemas.microsoft.com/office/drawing/2014/main" id="{FAC2CE18-3CBB-67EA-1998-29857E30A6BD}"/>
              </a:ext>
            </a:extLst>
          </p:cNvPr>
          <p:cNvSpPr txBox="1"/>
          <p:nvPr/>
        </p:nvSpPr>
        <p:spPr>
          <a:xfrm>
            <a:off x="2704795" y="2916936"/>
            <a:ext cx="219273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 u="none" kern="0">
                <a:solidFill>
                  <a:srgbClr val="2E8B87"/>
                </a:solidFill>
                <a:latin typeface="Cambria"/>
                <a:ea typeface="Cambria"/>
                <a:cs typeface="Cambria"/>
              </a:rPr>
              <a:t>Educational</a:t>
            </a:r>
          </a:p>
        </p:txBody>
      </p:sp>
      <p:sp>
        <p:nvSpPr>
          <p:cNvPr id="17416" name="Rectangle 17415">
            <a:extLst>
              <a:ext uri="{FF2B5EF4-FFF2-40B4-BE49-F238E27FC236}">
                <a16:creationId xmlns:a16="http://schemas.microsoft.com/office/drawing/2014/main" id="{2FFF5CD6-72A8-77E3-09EF-D3030FD3AF97}"/>
              </a:ext>
            </a:extLst>
          </p:cNvPr>
          <p:cNvSpPr/>
          <p:nvPr/>
        </p:nvSpPr>
        <p:spPr>
          <a:xfrm>
            <a:off x="3526840" y="3163824"/>
            <a:ext cx="548640" cy="10058"/>
          </a:xfrm>
          <a:prstGeom prst="rect">
            <a:avLst/>
          </a:prstGeom>
          <a:solidFill>
            <a:srgbClr val="2E8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5485FE00-BAC4-CA26-1549-11CD0AA83839}"/>
              </a:ext>
            </a:extLst>
          </p:cNvPr>
          <p:cNvSpPr txBox="1"/>
          <p:nvPr/>
        </p:nvSpPr>
        <p:spPr>
          <a:xfrm>
            <a:off x="2803315" y="3236976"/>
            <a:ext cx="2037283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n-IN" sz="1050" dirty="0"/>
              <a:t>Supports NEP 2020's recommendation for mother-tongue / home-language instruction wherever possible and strengthens foundational learning support.</a:t>
            </a:r>
            <a:endParaRPr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20" name="Rounded Rectangle 39">
            <a:extLst>
              <a:ext uri="{FF2B5EF4-FFF2-40B4-BE49-F238E27FC236}">
                <a16:creationId xmlns:a16="http://schemas.microsoft.com/office/drawing/2014/main" id="{DBA369DE-664D-29E5-9219-03A1BCBEAB0C}"/>
              </a:ext>
            </a:extLst>
          </p:cNvPr>
          <p:cNvSpPr/>
          <p:nvPr/>
        </p:nvSpPr>
        <p:spPr>
          <a:xfrm>
            <a:off x="4998110" y="2359152"/>
            <a:ext cx="2192731" cy="2139696"/>
          </a:xfrm>
          <a:prstGeom prst="roundRect">
            <a:avLst>
              <a:gd name="adj" fmla="val 3846"/>
            </a:avLst>
          </a:prstGeom>
          <a:solidFill>
            <a:srgbClr val="FDEDE3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2" name="Oval 17421">
            <a:extLst>
              <a:ext uri="{FF2B5EF4-FFF2-40B4-BE49-F238E27FC236}">
                <a16:creationId xmlns:a16="http://schemas.microsoft.com/office/drawing/2014/main" id="{3BDD57E9-6317-7493-151B-3DDB666D5BBE}"/>
              </a:ext>
            </a:extLst>
          </p:cNvPr>
          <p:cNvSpPr/>
          <p:nvPr/>
        </p:nvSpPr>
        <p:spPr>
          <a:xfrm>
            <a:off x="5902452" y="2478024"/>
            <a:ext cx="384048" cy="384048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4" name="Picture 17423" descr="b06a1aca.png">
            <a:extLst>
              <a:ext uri="{FF2B5EF4-FFF2-40B4-BE49-F238E27FC236}">
                <a16:creationId xmlns:a16="http://schemas.microsoft.com/office/drawing/2014/main" id="{83DE39EF-C9B5-8FDB-2C8C-DC9A36A05F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0059" y="2535631"/>
            <a:ext cx="268833" cy="268833"/>
          </a:xfrm>
          <a:prstGeom prst="rect">
            <a:avLst/>
          </a:prstGeom>
        </p:spPr>
      </p:pic>
      <p:sp>
        <p:nvSpPr>
          <p:cNvPr id="17426" name="TextBox 17425">
            <a:extLst>
              <a:ext uri="{FF2B5EF4-FFF2-40B4-BE49-F238E27FC236}">
                <a16:creationId xmlns:a16="http://schemas.microsoft.com/office/drawing/2014/main" id="{5840E230-EE66-4A8E-1BF4-08EC191C1747}"/>
              </a:ext>
            </a:extLst>
          </p:cNvPr>
          <p:cNvSpPr txBox="1"/>
          <p:nvPr/>
        </p:nvSpPr>
        <p:spPr>
          <a:xfrm>
            <a:off x="4998110" y="2916936"/>
            <a:ext cx="219273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 u="none" kern="0">
                <a:solidFill>
                  <a:srgbClr val="F2570A"/>
                </a:solidFill>
                <a:latin typeface="Cambria"/>
                <a:ea typeface="Cambria"/>
                <a:cs typeface="Cambria"/>
              </a:rPr>
              <a:t>Economic</a:t>
            </a:r>
          </a:p>
        </p:txBody>
      </p:sp>
      <p:sp>
        <p:nvSpPr>
          <p:cNvPr id="17428" name="Rectangle 17427">
            <a:extLst>
              <a:ext uri="{FF2B5EF4-FFF2-40B4-BE49-F238E27FC236}">
                <a16:creationId xmlns:a16="http://schemas.microsoft.com/office/drawing/2014/main" id="{91CE026B-5C85-1AA2-68D8-2A615C7B7A4A}"/>
              </a:ext>
            </a:extLst>
          </p:cNvPr>
          <p:cNvSpPr/>
          <p:nvPr/>
        </p:nvSpPr>
        <p:spPr>
          <a:xfrm>
            <a:off x="5820156" y="3163824"/>
            <a:ext cx="548640" cy="10058"/>
          </a:xfrm>
          <a:prstGeom prst="rect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8FFD422E-8DA3-9860-C4E3-7A0120461FE9}"/>
              </a:ext>
            </a:extLst>
          </p:cNvPr>
          <p:cNvSpPr txBox="1"/>
          <p:nvPr/>
        </p:nvSpPr>
        <p:spPr>
          <a:xfrm>
            <a:off x="5126126" y="3236976"/>
            <a:ext cx="1936699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n-IN" sz="1050" dirty="0"/>
              <a:t>Designed to minimise deployment cost by using existing Android devices and an open-source/free-tier prototype stack.</a:t>
            </a:r>
            <a:endParaRPr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32" name="Rounded Rectangle 45">
            <a:extLst>
              <a:ext uri="{FF2B5EF4-FFF2-40B4-BE49-F238E27FC236}">
                <a16:creationId xmlns:a16="http://schemas.microsoft.com/office/drawing/2014/main" id="{10B5C3FC-D964-50F2-3A3E-750B1D78C9E8}"/>
              </a:ext>
            </a:extLst>
          </p:cNvPr>
          <p:cNvSpPr/>
          <p:nvPr/>
        </p:nvSpPr>
        <p:spPr>
          <a:xfrm>
            <a:off x="7291425" y="2359152"/>
            <a:ext cx="2192731" cy="2139696"/>
          </a:xfrm>
          <a:prstGeom prst="roundRect">
            <a:avLst>
              <a:gd name="adj" fmla="val 3846"/>
            </a:avLst>
          </a:prstGeom>
          <a:solidFill>
            <a:srgbClr val="EAF1EE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4" name="Oval 17433">
            <a:extLst>
              <a:ext uri="{FF2B5EF4-FFF2-40B4-BE49-F238E27FC236}">
                <a16:creationId xmlns:a16="http://schemas.microsoft.com/office/drawing/2014/main" id="{0B08B69C-C123-5A94-644E-D3492B00200F}"/>
              </a:ext>
            </a:extLst>
          </p:cNvPr>
          <p:cNvSpPr/>
          <p:nvPr/>
        </p:nvSpPr>
        <p:spPr>
          <a:xfrm>
            <a:off x="8195767" y="2478024"/>
            <a:ext cx="384048" cy="3840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6" name="Picture 17435" descr="7777b8d8.png">
            <a:extLst>
              <a:ext uri="{FF2B5EF4-FFF2-40B4-BE49-F238E27FC236}">
                <a16:creationId xmlns:a16="http://schemas.microsoft.com/office/drawing/2014/main" id="{48464BE7-8072-8DE1-A7D2-3BFB12EB71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3374" y="2535631"/>
            <a:ext cx="268833" cy="268833"/>
          </a:xfrm>
          <a:prstGeom prst="rect">
            <a:avLst/>
          </a:prstGeom>
        </p:spPr>
      </p:pic>
      <p:sp>
        <p:nvSpPr>
          <p:cNvPr id="17438" name="TextBox 17437">
            <a:extLst>
              <a:ext uri="{FF2B5EF4-FFF2-40B4-BE49-F238E27FC236}">
                <a16:creationId xmlns:a16="http://schemas.microsoft.com/office/drawing/2014/main" id="{22A2E87D-4D8F-D585-6FA4-5BA52A2D09E3}"/>
              </a:ext>
            </a:extLst>
          </p:cNvPr>
          <p:cNvSpPr txBox="1"/>
          <p:nvPr/>
        </p:nvSpPr>
        <p:spPr>
          <a:xfrm>
            <a:off x="7291425" y="2916936"/>
            <a:ext cx="219273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Technological</a:t>
            </a:r>
          </a:p>
        </p:txBody>
      </p:sp>
      <p:sp>
        <p:nvSpPr>
          <p:cNvPr id="17440" name="Rectangle 17439">
            <a:extLst>
              <a:ext uri="{FF2B5EF4-FFF2-40B4-BE49-F238E27FC236}">
                <a16:creationId xmlns:a16="http://schemas.microsoft.com/office/drawing/2014/main" id="{6DD96F34-9E47-7AE8-2955-816771175F6E}"/>
              </a:ext>
            </a:extLst>
          </p:cNvPr>
          <p:cNvSpPr/>
          <p:nvPr/>
        </p:nvSpPr>
        <p:spPr>
          <a:xfrm>
            <a:off x="8113471" y="3163824"/>
            <a:ext cx="548640" cy="10058"/>
          </a:xfrm>
          <a:prstGeom prst="rect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CBAD472C-09EA-D211-69AD-E9A5C76272AE}"/>
              </a:ext>
            </a:extLst>
          </p:cNvPr>
          <p:cNvSpPr txBox="1"/>
          <p:nvPr/>
        </p:nvSpPr>
        <p:spPr>
          <a:xfrm>
            <a:off x="7419441" y="3236976"/>
            <a:ext cx="1936699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n-IN" sz="1050" dirty="0"/>
              <a:t>Honest AI: every translation shows exact/fuzzy/semantic match type with confidence score - never silently guesses</a:t>
            </a:r>
            <a:endParaRPr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44" name="Rounded Rectangle 51">
            <a:extLst>
              <a:ext uri="{FF2B5EF4-FFF2-40B4-BE49-F238E27FC236}">
                <a16:creationId xmlns:a16="http://schemas.microsoft.com/office/drawing/2014/main" id="{F7B29827-3F4B-4BD0-7709-125DCB7DDB34}"/>
              </a:ext>
            </a:extLst>
          </p:cNvPr>
          <p:cNvSpPr/>
          <p:nvPr/>
        </p:nvSpPr>
        <p:spPr>
          <a:xfrm>
            <a:off x="9584740" y="2359152"/>
            <a:ext cx="2192731" cy="2139696"/>
          </a:xfrm>
          <a:prstGeom prst="roundRect">
            <a:avLst>
              <a:gd name="adj" fmla="val 3846"/>
            </a:avLst>
          </a:prstGeom>
          <a:solidFill>
            <a:srgbClr val="F1EAF8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6" name="Oval 17445">
            <a:extLst>
              <a:ext uri="{FF2B5EF4-FFF2-40B4-BE49-F238E27FC236}">
                <a16:creationId xmlns:a16="http://schemas.microsoft.com/office/drawing/2014/main" id="{E22191E8-89DF-9516-2E2F-8F3E1FEAAA6B}"/>
              </a:ext>
            </a:extLst>
          </p:cNvPr>
          <p:cNvSpPr/>
          <p:nvPr/>
        </p:nvSpPr>
        <p:spPr>
          <a:xfrm>
            <a:off x="10489082" y="2478024"/>
            <a:ext cx="384048" cy="38404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8" name="Picture 17447" descr="a6da6a08.png">
            <a:extLst>
              <a:ext uri="{FF2B5EF4-FFF2-40B4-BE49-F238E27FC236}">
                <a16:creationId xmlns:a16="http://schemas.microsoft.com/office/drawing/2014/main" id="{4A301E1D-85D1-F442-4620-D96CE46874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6689" y="2535631"/>
            <a:ext cx="268833" cy="268833"/>
          </a:xfrm>
          <a:prstGeom prst="rect">
            <a:avLst/>
          </a:prstGeom>
        </p:spPr>
      </p:pic>
      <p:sp>
        <p:nvSpPr>
          <p:cNvPr id="17450" name="TextBox 17449">
            <a:extLst>
              <a:ext uri="{FF2B5EF4-FFF2-40B4-BE49-F238E27FC236}">
                <a16:creationId xmlns:a16="http://schemas.microsoft.com/office/drawing/2014/main" id="{44CB368D-0B5F-43D2-4243-16024E70058B}"/>
              </a:ext>
            </a:extLst>
          </p:cNvPr>
          <p:cNvSpPr txBox="1"/>
          <p:nvPr/>
        </p:nvSpPr>
        <p:spPr>
          <a:xfrm>
            <a:off x="9584740" y="2916936"/>
            <a:ext cx="219273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50" b="1" i="0" u="none" kern="0">
                <a:solidFill>
                  <a:srgbClr val="6B3FA0"/>
                </a:solidFill>
                <a:latin typeface="Cambria"/>
                <a:ea typeface="Cambria"/>
                <a:cs typeface="Cambria"/>
              </a:rPr>
              <a:t>Scalability</a:t>
            </a:r>
          </a:p>
        </p:txBody>
      </p:sp>
      <p:sp>
        <p:nvSpPr>
          <p:cNvPr id="17452" name="Rectangle 17451">
            <a:extLst>
              <a:ext uri="{FF2B5EF4-FFF2-40B4-BE49-F238E27FC236}">
                <a16:creationId xmlns:a16="http://schemas.microsoft.com/office/drawing/2014/main" id="{50F2B15D-6E7F-3D38-CC3C-541E1D750C17}"/>
              </a:ext>
            </a:extLst>
          </p:cNvPr>
          <p:cNvSpPr/>
          <p:nvPr/>
        </p:nvSpPr>
        <p:spPr>
          <a:xfrm>
            <a:off x="10406786" y="3163824"/>
            <a:ext cx="548640" cy="1005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>
            <a:extLst>
              <a:ext uri="{FF2B5EF4-FFF2-40B4-BE49-F238E27FC236}">
                <a16:creationId xmlns:a16="http://schemas.microsoft.com/office/drawing/2014/main" id="{B953AF4F-32DE-0AE2-2168-3F1B8F7B0633}"/>
              </a:ext>
            </a:extLst>
          </p:cNvPr>
          <p:cNvSpPr txBox="1"/>
          <p:nvPr/>
        </p:nvSpPr>
        <p:spPr>
          <a:xfrm>
            <a:off x="9712756" y="3236976"/>
            <a:ext cx="1936699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en-IN" sz="1050" dirty="0"/>
              <a:t>The language layer is modular, allowing the same application architecture to expand to Kurukh, Kharia and other languages with new validated data.</a:t>
            </a:r>
            <a:endParaRPr sz="1050" b="0" i="0" u="none" kern="0" dirty="0">
              <a:solidFill>
                <a:srgbClr val="2026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56" name="Rounded Rectangle 57">
            <a:extLst>
              <a:ext uri="{FF2B5EF4-FFF2-40B4-BE49-F238E27FC236}">
                <a16:creationId xmlns:a16="http://schemas.microsoft.com/office/drawing/2014/main" id="{8813FECE-2118-9044-1CCD-8D2B83B58222}"/>
              </a:ext>
            </a:extLst>
          </p:cNvPr>
          <p:cNvSpPr/>
          <p:nvPr/>
        </p:nvSpPr>
        <p:spPr>
          <a:xfrm>
            <a:off x="411480" y="4608576"/>
            <a:ext cx="4709160" cy="1700784"/>
          </a:xfrm>
          <a:prstGeom prst="roundRect">
            <a:avLst>
              <a:gd name="adj" fmla="val 483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8" name="TextBox 17457">
            <a:extLst>
              <a:ext uri="{FF2B5EF4-FFF2-40B4-BE49-F238E27FC236}">
                <a16:creationId xmlns:a16="http://schemas.microsoft.com/office/drawing/2014/main" id="{47082B42-0FF4-5657-935D-8992AC666757}"/>
              </a:ext>
            </a:extLst>
          </p:cNvPr>
          <p:cNvSpPr txBox="1"/>
          <p:nvPr/>
        </p:nvSpPr>
        <p:spPr>
          <a:xfrm>
            <a:off x="576072" y="4681728"/>
            <a:ext cx="437997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00" b="1" i="0" u="none" kern="0" spc="10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DEPLOYMENT HEADROOM  —  PRIMARY SCHOOLS</a:t>
            </a:r>
          </a:p>
        </p:txBody>
      </p:sp>
      <p:graphicFrame>
        <p:nvGraphicFramePr>
          <p:cNvPr id="17460" name="Chart 17459">
            <a:extLst>
              <a:ext uri="{FF2B5EF4-FFF2-40B4-BE49-F238E27FC236}">
                <a16:creationId xmlns:a16="http://schemas.microsoft.com/office/drawing/2014/main" id="{6B444386-E423-795E-662D-0FDC10079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402834"/>
              </p:ext>
            </p:extLst>
          </p:nvPr>
        </p:nvGraphicFramePr>
        <p:xfrm>
          <a:off x="502920" y="4864608"/>
          <a:ext cx="4292939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7462" name="TextBox 17461">
            <a:extLst>
              <a:ext uri="{FF2B5EF4-FFF2-40B4-BE49-F238E27FC236}">
                <a16:creationId xmlns:a16="http://schemas.microsoft.com/office/drawing/2014/main" id="{616BA01F-4C13-8BD4-84D7-380B22086DFC}"/>
              </a:ext>
            </a:extLst>
          </p:cNvPr>
          <p:cNvSpPr txBox="1"/>
          <p:nvPr/>
        </p:nvSpPr>
        <p:spPr>
          <a:xfrm>
            <a:off x="576072" y="6071616"/>
            <a:ext cx="4379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680" b="0" i="1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Sources: PALASH pilot and current coverage — UNICEF / JCERT; addressable school count — SIH PS 26042 background.</a:t>
            </a:r>
          </a:p>
        </p:txBody>
      </p:sp>
      <p:sp>
        <p:nvSpPr>
          <p:cNvPr id="17464" name="Rounded Rectangle 61">
            <a:extLst>
              <a:ext uri="{FF2B5EF4-FFF2-40B4-BE49-F238E27FC236}">
                <a16:creationId xmlns:a16="http://schemas.microsoft.com/office/drawing/2014/main" id="{82FC0093-F68E-1164-4544-773ACE2A64A6}"/>
              </a:ext>
            </a:extLst>
          </p:cNvPr>
          <p:cNvSpPr/>
          <p:nvPr/>
        </p:nvSpPr>
        <p:spPr>
          <a:xfrm>
            <a:off x="7419441" y="4589965"/>
            <a:ext cx="4358030" cy="1700784"/>
          </a:xfrm>
          <a:prstGeom prst="roundRect">
            <a:avLst>
              <a:gd name="adj" fmla="val 4838"/>
            </a:avLst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6" name="TextBox 17465">
            <a:extLst>
              <a:ext uri="{FF2B5EF4-FFF2-40B4-BE49-F238E27FC236}">
                <a16:creationId xmlns:a16="http://schemas.microsoft.com/office/drawing/2014/main" id="{BACCA27F-7260-7F72-A7BA-747E4170340F}"/>
              </a:ext>
            </a:extLst>
          </p:cNvPr>
          <p:cNvSpPr txBox="1"/>
          <p:nvPr/>
        </p:nvSpPr>
        <p:spPr>
          <a:xfrm>
            <a:off x="7928930" y="4677127"/>
            <a:ext cx="6163055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800" b="1" i="0" u="none" kern="0" spc="10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MEASURED REACH  —  EVERY NUMBER HAS A NAMED SOURCE</a:t>
            </a:r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CDFE0BF2-5A3B-37BC-EAEC-29AF9E7ABEC8}"/>
              </a:ext>
            </a:extLst>
          </p:cNvPr>
          <p:cNvSpPr txBox="1"/>
          <p:nvPr/>
        </p:nvSpPr>
        <p:spPr>
          <a:xfrm>
            <a:off x="7525811" y="4937760"/>
            <a:ext cx="144932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700" b="1" i="0" u="none" kern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1,041+</a:t>
            </a:r>
          </a:p>
        </p:txBody>
      </p:sp>
      <p:sp>
        <p:nvSpPr>
          <p:cNvPr id="17472" name="Rectangle 17471">
            <a:extLst>
              <a:ext uri="{FF2B5EF4-FFF2-40B4-BE49-F238E27FC236}">
                <a16:creationId xmlns:a16="http://schemas.microsoft.com/office/drawing/2014/main" id="{B26F9904-24D1-FDB1-1386-78ED45917A8E}"/>
              </a:ext>
            </a:extLst>
          </p:cNvPr>
          <p:cNvSpPr/>
          <p:nvPr/>
        </p:nvSpPr>
        <p:spPr>
          <a:xfrm>
            <a:off x="8500434" y="4992624"/>
            <a:ext cx="7315" cy="566928"/>
          </a:xfrm>
          <a:prstGeom prst="rect">
            <a:avLst/>
          </a:prstGeom>
          <a:solidFill>
            <a:srgbClr val="2C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94B99443-7C44-F972-2980-A496A3469E32}"/>
              </a:ext>
            </a:extLst>
          </p:cNvPr>
          <p:cNvSpPr txBox="1"/>
          <p:nvPr/>
        </p:nvSpPr>
        <p:spPr>
          <a:xfrm>
            <a:off x="8555295" y="4937760"/>
            <a:ext cx="144932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700" b="1" i="0" u="none" kern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5,000+</a:t>
            </a:r>
          </a:p>
        </p:txBody>
      </p:sp>
      <p:sp>
        <p:nvSpPr>
          <p:cNvPr id="17478" name="Rectangle 17477">
            <a:extLst>
              <a:ext uri="{FF2B5EF4-FFF2-40B4-BE49-F238E27FC236}">
                <a16:creationId xmlns:a16="http://schemas.microsoft.com/office/drawing/2014/main" id="{DAF7F62B-EC69-24CB-E88E-5826DA7C9363}"/>
              </a:ext>
            </a:extLst>
          </p:cNvPr>
          <p:cNvSpPr/>
          <p:nvPr/>
        </p:nvSpPr>
        <p:spPr>
          <a:xfrm>
            <a:off x="9638072" y="4992624"/>
            <a:ext cx="7315" cy="566928"/>
          </a:xfrm>
          <a:prstGeom prst="rect">
            <a:avLst/>
          </a:prstGeom>
          <a:solidFill>
            <a:srgbClr val="2C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0" name="TextBox 17479">
            <a:extLst>
              <a:ext uri="{FF2B5EF4-FFF2-40B4-BE49-F238E27FC236}">
                <a16:creationId xmlns:a16="http://schemas.microsoft.com/office/drawing/2014/main" id="{FF88A5B9-1612-7E41-D62A-67FA1FEE2A3E}"/>
              </a:ext>
            </a:extLst>
          </p:cNvPr>
          <p:cNvSpPr txBox="1"/>
          <p:nvPr/>
        </p:nvSpPr>
        <p:spPr>
          <a:xfrm>
            <a:off x="9722433" y="4937760"/>
            <a:ext cx="144932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700" b="1" i="0" u="none" kern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97.8K</a:t>
            </a:r>
          </a:p>
        </p:txBody>
      </p:sp>
      <p:sp>
        <p:nvSpPr>
          <p:cNvPr id="17484" name="Rectangle 17483">
            <a:extLst>
              <a:ext uri="{FF2B5EF4-FFF2-40B4-BE49-F238E27FC236}">
                <a16:creationId xmlns:a16="http://schemas.microsoft.com/office/drawing/2014/main" id="{E15F893C-827A-AEA5-8F88-D26574030764}"/>
              </a:ext>
            </a:extLst>
          </p:cNvPr>
          <p:cNvSpPr/>
          <p:nvPr/>
        </p:nvSpPr>
        <p:spPr>
          <a:xfrm>
            <a:off x="10569237" y="4992624"/>
            <a:ext cx="7315" cy="566928"/>
          </a:xfrm>
          <a:prstGeom prst="rect">
            <a:avLst/>
          </a:prstGeom>
          <a:solidFill>
            <a:srgbClr val="2C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>
            <a:extLst>
              <a:ext uri="{FF2B5EF4-FFF2-40B4-BE49-F238E27FC236}">
                <a16:creationId xmlns:a16="http://schemas.microsoft.com/office/drawing/2014/main" id="{E14B7F88-EDC9-84C9-ED57-57BEC70FEF5B}"/>
              </a:ext>
            </a:extLst>
          </p:cNvPr>
          <p:cNvSpPr txBox="1"/>
          <p:nvPr/>
        </p:nvSpPr>
        <p:spPr>
          <a:xfrm>
            <a:off x="10633932" y="4944115"/>
            <a:ext cx="1449323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IN" sz="1700" b="1" i="0" u="none" kern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₹Low Cost</a:t>
            </a:r>
            <a:endParaRPr sz="1700" b="1" i="0" u="none" kern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490" name="Rectangle 17489">
            <a:extLst>
              <a:ext uri="{FF2B5EF4-FFF2-40B4-BE49-F238E27FC236}">
                <a16:creationId xmlns:a16="http://schemas.microsoft.com/office/drawing/2014/main" id="{3B1BC59F-CE25-85AE-DF40-2EF0FED35794}"/>
              </a:ext>
            </a:extLst>
          </p:cNvPr>
          <p:cNvSpPr/>
          <p:nvPr/>
        </p:nvSpPr>
        <p:spPr>
          <a:xfrm flipV="1">
            <a:off x="7525078" y="5562934"/>
            <a:ext cx="4167835" cy="45719"/>
          </a:xfrm>
          <a:prstGeom prst="rect">
            <a:avLst/>
          </a:prstGeom>
          <a:solidFill>
            <a:srgbClr val="2C4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2" name="TextBox 17491">
            <a:extLst>
              <a:ext uri="{FF2B5EF4-FFF2-40B4-BE49-F238E27FC236}">
                <a16:creationId xmlns:a16="http://schemas.microsoft.com/office/drawing/2014/main" id="{544C9BE4-973C-E833-91CF-52D0049A3B8A}"/>
              </a:ext>
            </a:extLst>
          </p:cNvPr>
          <p:cNvSpPr txBox="1"/>
          <p:nvPr/>
        </p:nvSpPr>
        <p:spPr>
          <a:xfrm>
            <a:off x="7555307" y="5715883"/>
            <a:ext cx="40687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900" i="1" dirty="0">
                <a:solidFill>
                  <a:schemeClr val="bg1"/>
                </a:solidFill>
              </a:rPr>
              <a:t>The opportunity is grounded in an existing education network, available language resources and devices already familiar to teachers. </a:t>
            </a:r>
            <a:r>
              <a:rPr lang="en-IN" sz="900" i="1" dirty="0" err="1">
                <a:solidFill>
                  <a:schemeClr val="bg1"/>
                </a:solidFill>
              </a:rPr>
              <a:t>PalashVani</a:t>
            </a:r>
            <a:r>
              <a:rPr lang="en-IN" sz="900" i="1" dirty="0">
                <a:solidFill>
                  <a:schemeClr val="bg1"/>
                </a:solidFill>
              </a:rPr>
              <a:t> adds the missing </a:t>
            </a:r>
            <a:r>
              <a:rPr lang="en-IN" sz="900" b="1" i="1" dirty="0">
                <a:solidFill>
                  <a:schemeClr val="accent6">
                    <a:lumMod val="75000"/>
                  </a:schemeClr>
                </a:solidFill>
              </a:rPr>
              <a:t>language-access layer.</a:t>
            </a:r>
            <a:endParaRPr sz="840" b="1" i="1" u="none" kern="0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494" name="Picture 17493">
            <a:extLst>
              <a:ext uri="{FF2B5EF4-FFF2-40B4-BE49-F238E27FC236}">
                <a16:creationId xmlns:a16="http://schemas.microsoft.com/office/drawing/2014/main" id="{18243BD2-D0AA-A374-A18B-767369E1393B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</a:blip>
          <a:stretch>
            <a:fillRect/>
          </a:stretch>
        </p:blipFill>
        <p:spPr>
          <a:xfrm>
            <a:off x="3764" y="48388"/>
            <a:ext cx="407716" cy="407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31F258-9B52-3225-2133-6E23EC79C1E7}"/>
              </a:ext>
            </a:extLst>
          </p:cNvPr>
          <p:cNvSpPr txBox="1"/>
          <p:nvPr/>
        </p:nvSpPr>
        <p:spPr>
          <a:xfrm>
            <a:off x="9205722" y="1565264"/>
            <a:ext cx="2576322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50" dirty="0"/>
              <a:t>The same architecture supports other Indian tribal programs by swapping the language and curriculum data layer.</a:t>
            </a:r>
            <a:endParaRPr sz="1050" b="0" i="0" u="none" kern="0" dirty="0">
              <a:solidFill>
                <a:srgbClr val="202624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6F8C30-5CCE-2AAF-F65F-D7815F8A3B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6197" y="4476110"/>
            <a:ext cx="2581023" cy="1833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651298-7681-7B71-59AC-84EA249A58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902" y="424513"/>
            <a:ext cx="1144216" cy="4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1910590-85AE-417C-E3CC-CA2F5BEDC8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32801565-57CD-3F26-A5A7-91B116551A3C}"/>
              </a:ext>
            </a:extLst>
          </p:cNvPr>
          <p:cNvSpPr/>
          <p:nvPr/>
        </p:nvSpPr>
        <p:spPr>
          <a:xfrm>
            <a:off x="411480" y="1152144"/>
            <a:ext cx="370944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85CFC1CD-CF2C-A607-5847-1EDBBC3BA78E}"/>
              </a:ext>
            </a:extLst>
          </p:cNvPr>
          <p:cNvSpPr/>
          <p:nvPr/>
        </p:nvSpPr>
        <p:spPr>
          <a:xfrm>
            <a:off x="576072" y="1280160"/>
            <a:ext cx="1170432" cy="512064"/>
          </a:xfrm>
          <a:prstGeom prst="roundRect">
            <a:avLst>
              <a:gd name="adj" fmla="val 892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3a09a4a1.png">
            <a:extLst>
              <a:ext uri="{FF2B5EF4-FFF2-40B4-BE49-F238E27FC236}">
                <a16:creationId xmlns:a16="http://schemas.microsoft.com/office/drawing/2014/main" id="{5118A5CC-883E-851B-CBA9-4F21B4BC0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00" y="1353312"/>
            <a:ext cx="666974" cy="365760"/>
          </a:xfrm>
          <a:prstGeom prst="rect">
            <a:avLst/>
          </a:prstGeom>
        </p:spPr>
      </p:pic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F9A2FE69-FF76-2F7C-6FD7-21230B60C431}"/>
              </a:ext>
            </a:extLst>
          </p:cNvPr>
          <p:cNvSpPr/>
          <p:nvPr/>
        </p:nvSpPr>
        <p:spPr>
          <a:xfrm>
            <a:off x="1874520" y="1298448"/>
            <a:ext cx="786384" cy="169164"/>
          </a:xfrm>
          <a:prstGeom prst="roundRect">
            <a:avLst>
              <a:gd name="adj" fmla="val 18918"/>
            </a:avLst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2F8339-B3AD-0F6C-CF0A-39168BDA2A50}"/>
              </a:ext>
            </a:extLst>
          </p:cNvPr>
          <p:cNvSpPr txBox="1"/>
          <p:nvPr/>
        </p:nvSpPr>
        <p:spPr>
          <a:xfrm>
            <a:off x="1874520" y="1298448"/>
            <a:ext cx="786384" cy="169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50" b="1" i="0" u="none" kern="0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14369-D8F8-5BA5-6570-E1DE1E396740}"/>
              </a:ext>
            </a:extLst>
          </p:cNvPr>
          <p:cNvSpPr txBox="1"/>
          <p:nvPr/>
        </p:nvSpPr>
        <p:spPr>
          <a:xfrm>
            <a:off x="1874520" y="1499616"/>
            <a:ext cx="208181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Bhashini / ULCA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44276-62C0-3067-2A03-568B544EDFA9}"/>
              </a:ext>
            </a:extLst>
          </p:cNvPr>
          <p:cNvSpPr txBox="1"/>
          <p:nvPr/>
        </p:nvSpPr>
        <p:spPr>
          <a:xfrm>
            <a:off x="576072" y="1883664"/>
            <a:ext cx="33802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buNone/>
            </a:pPr>
            <a:r>
              <a:rPr lang="en-US" sz="8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Govt of India (</a:t>
            </a:r>
            <a:r>
              <a:rPr lang="en-US" sz="830" b="0" i="0" u="none" kern="0" dirty="0" err="1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MeitY</a:t>
            </a:r>
            <a:r>
              <a:rPr lang="en-US" sz="8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) National Language Translation Mission. Santali and Ho are officially listed; ULCA hosts MT / ASR / TTS / OCR datasets and a live inference API.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18341E-7949-A0CE-CD21-D64555F23EF4}"/>
              </a:ext>
            </a:extLst>
          </p:cNvPr>
          <p:cNvSpPr txBox="1"/>
          <p:nvPr/>
        </p:nvSpPr>
        <p:spPr>
          <a:xfrm>
            <a:off x="576072" y="2295144"/>
            <a:ext cx="3380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We use it for:</a:t>
            </a:r>
            <a:r>
              <a:rPr lang="en-IN"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800" i="1" dirty="0">
                <a:solidFill>
                  <a:schemeClr val="bg1">
                    <a:lumMod val="50000"/>
                  </a:schemeClr>
                </a:solidFill>
              </a:rPr>
              <a:t>runtime ASR / translation / TTS where the required language-service combination is available.</a:t>
            </a:r>
            <a:endParaRPr sz="790" b="0" i="1" u="none" kern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F73EF7-0CF4-054A-9AE3-FC7C09B147B3}"/>
              </a:ext>
            </a:extLst>
          </p:cNvPr>
          <p:cNvSpPr txBox="1"/>
          <p:nvPr/>
        </p:nvSpPr>
        <p:spPr>
          <a:xfrm>
            <a:off x="576072" y="2599393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n-US" sz="740" b="0" i="0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Govt of India · free developer key (</a:t>
            </a:r>
            <a:r>
              <a:rPr lang="en-US" sz="740" b="0" i="0" u="none" kern="0" dirty="0" err="1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userID</a:t>
            </a:r>
            <a:r>
              <a:rPr lang="en-US" sz="740" b="0" i="0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740" b="0" i="0" u="none" kern="0" dirty="0" err="1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ulcaApiKey</a:t>
            </a:r>
            <a:r>
              <a:rPr lang="en-US" sz="740" b="0" i="0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)  [runtime]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AF2F5-B54F-357E-591B-0FABA4D8BF31}"/>
              </a:ext>
            </a:extLst>
          </p:cNvPr>
          <p:cNvSpPr txBox="1"/>
          <p:nvPr/>
        </p:nvSpPr>
        <p:spPr>
          <a:xfrm>
            <a:off x="576072" y="2745697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bhashini.gov.in  ·  github.com/</a:t>
            </a:r>
            <a:r>
              <a:rPr sz="740" b="1" i="0" u="none" kern="0" dirty="0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bhashini-dibd</a:t>
            </a: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/</a:t>
            </a:r>
            <a:r>
              <a:rPr sz="740" b="1" i="0" u="none" kern="0" dirty="0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ulca</a:t>
            </a:r>
            <a:endParaRPr sz="740" b="1" i="0" u="none" kern="0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718E9FC4-ACDE-7BB8-326A-64EC7EC763C2}"/>
              </a:ext>
            </a:extLst>
          </p:cNvPr>
          <p:cNvSpPr/>
          <p:nvPr/>
        </p:nvSpPr>
        <p:spPr>
          <a:xfrm>
            <a:off x="4239798" y="1152144"/>
            <a:ext cx="370944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18">
            <a:extLst>
              <a:ext uri="{FF2B5EF4-FFF2-40B4-BE49-F238E27FC236}">
                <a16:creationId xmlns:a16="http://schemas.microsoft.com/office/drawing/2014/main" id="{5CFEE720-AEB0-E5A8-AA2E-06B154746F9F}"/>
              </a:ext>
            </a:extLst>
          </p:cNvPr>
          <p:cNvSpPr/>
          <p:nvPr/>
        </p:nvSpPr>
        <p:spPr>
          <a:xfrm>
            <a:off x="4404390" y="1280160"/>
            <a:ext cx="1170432" cy="512064"/>
          </a:xfrm>
          <a:prstGeom prst="roundRect">
            <a:avLst>
              <a:gd name="adj" fmla="val 892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4" name="Picture 33" descr="9ae3a7a4.png">
            <a:extLst>
              <a:ext uri="{FF2B5EF4-FFF2-40B4-BE49-F238E27FC236}">
                <a16:creationId xmlns:a16="http://schemas.microsoft.com/office/drawing/2014/main" id="{975BB8BC-1B17-869F-74B1-AF01851A6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134" y="1353312"/>
            <a:ext cx="616944" cy="365760"/>
          </a:xfrm>
          <a:prstGeom prst="rect">
            <a:avLst/>
          </a:prstGeom>
        </p:spPr>
      </p:pic>
      <p:sp>
        <p:nvSpPr>
          <p:cNvPr id="36" name="Rounded Rectangle 20">
            <a:extLst>
              <a:ext uri="{FF2B5EF4-FFF2-40B4-BE49-F238E27FC236}">
                <a16:creationId xmlns:a16="http://schemas.microsoft.com/office/drawing/2014/main" id="{2038F936-C210-26C8-455B-1007337B03CE}"/>
              </a:ext>
            </a:extLst>
          </p:cNvPr>
          <p:cNvSpPr/>
          <p:nvPr/>
        </p:nvSpPr>
        <p:spPr>
          <a:xfrm>
            <a:off x="5702838" y="1298448"/>
            <a:ext cx="786384" cy="169164"/>
          </a:xfrm>
          <a:prstGeom prst="roundRect">
            <a:avLst>
              <a:gd name="adj" fmla="val 18918"/>
            </a:avLst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4A0184-54E5-781D-5804-68CF952BEF2E}"/>
              </a:ext>
            </a:extLst>
          </p:cNvPr>
          <p:cNvSpPr txBox="1"/>
          <p:nvPr/>
        </p:nvSpPr>
        <p:spPr>
          <a:xfrm>
            <a:off x="5702838" y="1298448"/>
            <a:ext cx="786384" cy="169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50" b="1" i="0" u="none" kern="0" spc="8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6B54B7-5051-849D-B62F-084B9D0BB95E}"/>
              </a:ext>
            </a:extLst>
          </p:cNvPr>
          <p:cNvSpPr txBox="1"/>
          <p:nvPr/>
        </p:nvSpPr>
        <p:spPr>
          <a:xfrm>
            <a:off x="5702838" y="1499616"/>
            <a:ext cx="208181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CIIL / SPPEL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AD8625-9D61-FC5B-CD42-DB6EA3C8084D}"/>
              </a:ext>
            </a:extLst>
          </p:cNvPr>
          <p:cNvSpPr txBox="1"/>
          <p:nvPr/>
        </p:nvSpPr>
        <p:spPr>
          <a:xfrm>
            <a:off x="4404390" y="1883664"/>
            <a:ext cx="33802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buNone/>
            </a:pPr>
            <a:r>
              <a:rPr sz="8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Ministry of Education scheme documenting Ho, Mundari and Santali — grammar sketches, bilingual dictionaries, pictorial glossaries and audio archives.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CC7C57-0EBD-2B77-1451-ADB39147D0A0}"/>
              </a:ext>
            </a:extLst>
          </p:cNvPr>
          <p:cNvSpPr txBox="1"/>
          <p:nvPr/>
        </p:nvSpPr>
        <p:spPr>
          <a:xfrm>
            <a:off x="4404390" y="2295144"/>
            <a:ext cx="3380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We use it for:</a:t>
            </a:r>
            <a:r>
              <a:rPr lang="en-IN"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800" i="1" dirty="0">
                <a:solidFill>
                  <a:schemeClr val="bg1">
                    <a:lumMod val="50000"/>
                  </a:schemeClr>
                </a:solidFill>
              </a:rPr>
              <a:t>authoritative language reference, pronunciation and linguistic validation. Formal collaboration is proposed for future validation.</a:t>
            </a:r>
            <a:endParaRPr sz="790" b="0" i="1" u="none" kern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63484F-6D28-8018-F696-969B1B1AF0C7}"/>
              </a:ext>
            </a:extLst>
          </p:cNvPr>
          <p:cNvSpPr txBox="1"/>
          <p:nvPr/>
        </p:nvSpPr>
        <p:spPr>
          <a:xfrm>
            <a:off x="4404390" y="2578608"/>
            <a:ext cx="3380262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0" i="0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Ministry of Education · part public, rest by formal request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D91933-FDD5-D739-49FA-78CF9B31EFC1}"/>
              </a:ext>
            </a:extLst>
          </p:cNvPr>
          <p:cNvSpPr txBox="1"/>
          <p:nvPr/>
        </p:nvSpPr>
        <p:spPr>
          <a:xfrm>
            <a:off x="4404390" y="2745697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sppel.org  ·  ciil.org  ·  sanchika.ciil.org</a:t>
            </a: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88BAE194-C701-8B87-34EE-DB7A38FB170F}"/>
              </a:ext>
            </a:extLst>
          </p:cNvPr>
          <p:cNvSpPr/>
          <p:nvPr/>
        </p:nvSpPr>
        <p:spPr>
          <a:xfrm>
            <a:off x="8068116" y="1152144"/>
            <a:ext cx="370944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28">
            <a:extLst>
              <a:ext uri="{FF2B5EF4-FFF2-40B4-BE49-F238E27FC236}">
                <a16:creationId xmlns:a16="http://schemas.microsoft.com/office/drawing/2014/main" id="{F1D9B767-90F4-8275-A888-7A31A9A981BC}"/>
              </a:ext>
            </a:extLst>
          </p:cNvPr>
          <p:cNvSpPr/>
          <p:nvPr/>
        </p:nvSpPr>
        <p:spPr>
          <a:xfrm>
            <a:off x="8232708" y="1280160"/>
            <a:ext cx="1170432" cy="512064"/>
          </a:xfrm>
          <a:prstGeom prst="roundRect">
            <a:avLst>
              <a:gd name="adj" fmla="val 892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4" name="Picture 53" descr="39614dfd.png">
            <a:extLst>
              <a:ext uri="{FF2B5EF4-FFF2-40B4-BE49-F238E27FC236}">
                <a16:creationId xmlns:a16="http://schemas.microsoft.com/office/drawing/2014/main" id="{8AC7BE8C-F669-B702-F17A-58F1F959F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724" y="1353312"/>
            <a:ext cx="446400" cy="365760"/>
          </a:xfrm>
          <a:prstGeom prst="rect">
            <a:avLst/>
          </a:prstGeom>
        </p:spPr>
      </p:pic>
      <p:sp>
        <p:nvSpPr>
          <p:cNvPr id="56" name="Rounded Rectangle 30">
            <a:extLst>
              <a:ext uri="{FF2B5EF4-FFF2-40B4-BE49-F238E27FC236}">
                <a16:creationId xmlns:a16="http://schemas.microsoft.com/office/drawing/2014/main" id="{5EAED3CA-46BE-068B-C9A6-3078A68C4452}"/>
              </a:ext>
            </a:extLst>
          </p:cNvPr>
          <p:cNvSpPr/>
          <p:nvPr/>
        </p:nvSpPr>
        <p:spPr>
          <a:xfrm>
            <a:off x="9531156" y="1298448"/>
            <a:ext cx="786384" cy="169164"/>
          </a:xfrm>
          <a:prstGeom prst="roundRect">
            <a:avLst>
              <a:gd name="adj" fmla="val 18918"/>
            </a:avLst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D10D03-218F-946D-7A4C-278026414FB3}"/>
              </a:ext>
            </a:extLst>
          </p:cNvPr>
          <p:cNvSpPr txBox="1"/>
          <p:nvPr/>
        </p:nvSpPr>
        <p:spPr>
          <a:xfrm>
            <a:off x="9531156" y="1298448"/>
            <a:ext cx="786384" cy="169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50" b="1" i="0" u="none" kern="0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EDCCA7-23F6-9A6A-BF03-A362FF4190E7}"/>
              </a:ext>
            </a:extLst>
          </p:cNvPr>
          <p:cNvSpPr txBox="1"/>
          <p:nvPr/>
        </p:nvSpPr>
        <p:spPr>
          <a:xfrm>
            <a:off x="9531156" y="1499616"/>
            <a:ext cx="208181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JCERT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D359AE-B2AC-1A79-8364-CE2C10A99C60}"/>
              </a:ext>
            </a:extLst>
          </p:cNvPr>
          <p:cNvSpPr txBox="1"/>
          <p:nvPr/>
        </p:nvSpPr>
        <p:spPr>
          <a:xfrm>
            <a:off x="8232708" y="1883664"/>
            <a:ext cx="33802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buNone/>
            </a:pPr>
            <a:r>
              <a:rPr sz="830" b="0" i="0" u="none" kern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Jharkhand Council of Educational Research &amp; Training — the state's own textbook PDF repository for Classes I–XII, and the authority our PS owner recognises.</a:t>
            </a: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27D91DA1-4757-2683-6C52-BE9379FB786F}"/>
              </a:ext>
            </a:extLst>
          </p:cNvPr>
          <p:cNvSpPr txBox="1"/>
          <p:nvPr/>
        </p:nvSpPr>
        <p:spPr>
          <a:xfrm>
            <a:off x="8232708" y="2295144"/>
            <a:ext cx="3380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We use it for:</a:t>
            </a:r>
            <a:r>
              <a:rPr lang="en-IN"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800" i="1" dirty="0">
                <a:solidFill>
                  <a:schemeClr val="bg1">
                    <a:lumMod val="50000"/>
                  </a:schemeClr>
                </a:solidFill>
              </a:rPr>
              <a:t>curriculum structure and available textbook references; prototype scope uses only accessible curriculum material.</a:t>
            </a:r>
            <a:endParaRPr sz="790" b="0" i="1" u="none" kern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C48C0335-BCC6-3A43-62E8-57D2BF57C91D}"/>
              </a:ext>
            </a:extLst>
          </p:cNvPr>
          <p:cNvSpPr txBox="1"/>
          <p:nvPr/>
        </p:nvSpPr>
        <p:spPr>
          <a:xfrm>
            <a:off x="8232708" y="2578608"/>
            <a:ext cx="3380262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Govt of Jharkhand · not bulk-scrapeable; MoU in Phase 2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38C625AC-EC84-54D3-41A8-B4EA02781832}"/>
              </a:ext>
            </a:extLst>
          </p:cNvPr>
          <p:cNvSpPr txBox="1"/>
          <p:nvPr/>
        </p:nvSpPr>
        <p:spPr>
          <a:xfrm>
            <a:off x="8232708" y="2745697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jcert.jharkhand.gov.in/home/textbook</a:t>
            </a:r>
          </a:p>
        </p:txBody>
      </p:sp>
      <p:sp>
        <p:nvSpPr>
          <p:cNvPr id="17416" name="Rounded Rectangle 37">
            <a:extLst>
              <a:ext uri="{FF2B5EF4-FFF2-40B4-BE49-F238E27FC236}">
                <a16:creationId xmlns:a16="http://schemas.microsoft.com/office/drawing/2014/main" id="{F2B85F5D-164D-77FD-FCBA-D6EAAABE4CDC}"/>
              </a:ext>
            </a:extLst>
          </p:cNvPr>
          <p:cNvSpPr/>
          <p:nvPr/>
        </p:nvSpPr>
        <p:spPr>
          <a:xfrm>
            <a:off x="411480" y="3035808"/>
            <a:ext cx="370944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8" name="Rounded Rectangle 38">
            <a:extLst>
              <a:ext uri="{FF2B5EF4-FFF2-40B4-BE49-F238E27FC236}">
                <a16:creationId xmlns:a16="http://schemas.microsoft.com/office/drawing/2014/main" id="{B02752D3-EF80-024B-1C39-D6E2CB2F54E4}"/>
              </a:ext>
            </a:extLst>
          </p:cNvPr>
          <p:cNvSpPr/>
          <p:nvPr/>
        </p:nvSpPr>
        <p:spPr>
          <a:xfrm>
            <a:off x="576072" y="3163824"/>
            <a:ext cx="1170432" cy="512064"/>
          </a:xfrm>
          <a:prstGeom prst="roundRect">
            <a:avLst>
              <a:gd name="adj" fmla="val 892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2" name="Rounded Rectangle 40">
            <a:extLst>
              <a:ext uri="{FF2B5EF4-FFF2-40B4-BE49-F238E27FC236}">
                <a16:creationId xmlns:a16="http://schemas.microsoft.com/office/drawing/2014/main" id="{26ABFDBF-46C8-D3BA-A39E-F2AECBD1B57D}"/>
              </a:ext>
            </a:extLst>
          </p:cNvPr>
          <p:cNvSpPr/>
          <p:nvPr/>
        </p:nvSpPr>
        <p:spPr>
          <a:xfrm>
            <a:off x="1874520" y="3182112"/>
            <a:ext cx="786384" cy="169164"/>
          </a:xfrm>
          <a:prstGeom prst="roundRect">
            <a:avLst>
              <a:gd name="adj" fmla="val 18918"/>
            </a:avLst>
          </a:prstGeom>
          <a:solidFill>
            <a:srgbClr val="2E8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92C41C21-4A7F-5BA7-7FB8-4919563FB7C1}"/>
              </a:ext>
            </a:extLst>
          </p:cNvPr>
          <p:cNvSpPr txBox="1"/>
          <p:nvPr/>
        </p:nvSpPr>
        <p:spPr>
          <a:xfrm>
            <a:off x="1874520" y="3182112"/>
            <a:ext cx="786384" cy="169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50" b="1" i="0" u="none" kern="0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</a:t>
            </a: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E12652EF-BE57-B161-8CFD-97AC899809EE}"/>
              </a:ext>
            </a:extLst>
          </p:cNvPr>
          <p:cNvSpPr txBox="1"/>
          <p:nvPr/>
        </p:nvSpPr>
        <p:spPr>
          <a:xfrm>
            <a:off x="1874520" y="3383280"/>
            <a:ext cx="208181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Karya</a:t>
            </a:r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24FE3A8C-C362-FDD1-39DB-EDBC649E8F14}"/>
              </a:ext>
            </a:extLst>
          </p:cNvPr>
          <p:cNvSpPr txBox="1"/>
          <p:nvPr/>
        </p:nvSpPr>
        <p:spPr>
          <a:xfrm>
            <a:off x="576072" y="3767328"/>
            <a:ext cx="33802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buNone/>
            </a:pPr>
            <a:r>
              <a:rPr sz="8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17,826 real </a:t>
            </a:r>
            <a:r>
              <a:rPr sz="830" b="0" i="0" u="none" kern="0" dirty="0" err="1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Hindi→Mundari</a:t>
            </a:r>
            <a:r>
              <a:rPr sz="8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 sentence pairs, human-collected by Karya with Microsoft Research India and IIT Kharagpur. Single UTF-8 TSV, ready to clone.</a:t>
            </a:r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17573A5E-5DE3-503F-C6E8-C6760E318290}"/>
              </a:ext>
            </a:extLst>
          </p:cNvPr>
          <p:cNvSpPr txBox="1"/>
          <p:nvPr/>
        </p:nvSpPr>
        <p:spPr>
          <a:xfrm>
            <a:off x="576072" y="4178808"/>
            <a:ext cx="338026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We use it for:</a:t>
            </a:r>
            <a:r>
              <a:rPr sz="790" b="0" i="1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800" i="1" dirty="0">
                <a:solidFill>
                  <a:schemeClr val="bg1">
                    <a:lumMod val="50000"/>
                  </a:schemeClr>
                </a:solidFill>
              </a:rPr>
              <a:t>Hindi–Mundari translation support and semantic retrieval.</a:t>
            </a:r>
            <a:r>
              <a:rPr sz="790" b="0" i="1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432" name="TextBox 17431">
            <a:extLst>
              <a:ext uri="{FF2B5EF4-FFF2-40B4-BE49-F238E27FC236}">
                <a16:creationId xmlns:a16="http://schemas.microsoft.com/office/drawing/2014/main" id="{DD05D4EF-4C37-72CD-0A41-757477C66311}"/>
              </a:ext>
            </a:extLst>
          </p:cNvPr>
          <p:cNvSpPr txBox="1"/>
          <p:nvPr/>
        </p:nvSpPr>
        <p:spPr>
          <a:xfrm>
            <a:off x="576072" y="4462272"/>
            <a:ext cx="3380262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Karya Public License — non-commercial, attribution required</a:t>
            </a:r>
          </a:p>
        </p:txBody>
      </p:sp>
      <p:sp>
        <p:nvSpPr>
          <p:cNvPr id="17434" name="TextBox 17433">
            <a:extLst>
              <a:ext uri="{FF2B5EF4-FFF2-40B4-BE49-F238E27FC236}">
                <a16:creationId xmlns:a16="http://schemas.microsoft.com/office/drawing/2014/main" id="{ECE65DD1-8DFB-E99E-CB82-60D4F262A0DB}"/>
              </a:ext>
            </a:extLst>
          </p:cNvPr>
          <p:cNvSpPr txBox="1"/>
          <p:nvPr/>
        </p:nvSpPr>
        <p:spPr>
          <a:xfrm>
            <a:off x="576072" y="4629361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github.com/</a:t>
            </a:r>
            <a:r>
              <a:rPr sz="740" b="1" i="0" u="none" kern="0" dirty="0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karya-inc</a:t>
            </a: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/dataset-</a:t>
            </a:r>
            <a:r>
              <a:rPr sz="740" b="1" i="0" u="none" kern="0" dirty="0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hindi</a:t>
            </a: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-</a:t>
            </a:r>
            <a:r>
              <a:rPr sz="740" b="1" i="0" u="none" kern="0" dirty="0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mundari</a:t>
            </a: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-translation</a:t>
            </a:r>
          </a:p>
        </p:txBody>
      </p:sp>
      <p:sp>
        <p:nvSpPr>
          <p:cNvPr id="17436" name="Rounded Rectangle 47">
            <a:extLst>
              <a:ext uri="{FF2B5EF4-FFF2-40B4-BE49-F238E27FC236}">
                <a16:creationId xmlns:a16="http://schemas.microsoft.com/office/drawing/2014/main" id="{A8D3DD34-4296-D846-439D-E8B1FBB21FB5}"/>
              </a:ext>
            </a:extLst>
          </p:cNvPr>
          <p:cNvSpPr/>
          <p:nvPr/>
        </p:nvSpPr>
        <p:spPr>
          <a:xfrm>
            <a:off x="4239798" y="3035808"/>
            <a:ext cx="370944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8" name="Rounded Rectangle 48">
            <a:extLst>
              <a:ext uri="{FF2B5EF4-FFF2-40B4-BE49-F238E27FC236}">
                <a16:creationId xmlns:a16="http://schemas.microsoft.com/office/drawing/2014/main" id="{C67E2CAC-0819-DFD6-1870-C3F299009605}"/>
              </a:ext>
            </a:extLst>
          </p:cNvPr>
          <p:cNvSpPr/>
          <p:nvPr/>
        </p:nvSpPr>
        <p:spPr>
          <a:xfrm>
            <a:off x="4404390" y="3163824"/>
            <a:ext cx="1170432" cy="512064"/>
          </a:xfrm>
          <a:prstGeom prst="roundRect">
            <a:avLst>
              <a:gd name="adj" fmla="val 892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440" name="Picture 17439" descr="38d4e8f0.png">
            <a:extLst>
              <a:ext uri="{FF2B5EF4-FFF2-40B4-BE49-F238E27FC236}">
                <a16:creationId xmlns:a16="http://schemas.microsoft.com/office/drawing/2014/main" id="{3A2DD049-5EBD-76BB-7531-C64E2FC9E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575" y="3236976"/>
            <a:ext cx="844061" cy="365760"/>
          </a:xfrm>
          <a:prstGeom prst="rect">
            <a:avLst/>
          </a:prstGeom>
        </p:spPr>
      </p:pic>
      <p:sp>
        <p:nvSpPr>
          <p:cNvPr id="17442" name="Rounded Rectangle 50">
            <a:extLst>
              <a:ext uri="{FF2B5EF4-FFF2-40B4-BE49-F238E27FC236}">
                <a16:creationId xmlns:a16="http://schemas.microsoft.com/office/drawing/2014/main" id="{15F299EC-8A8D-F58A-3079-A61A164229D4}"/>
              </a:ext>
            </a:extLst>
          </p:cNvPr>
          <p:cNvSpPr/>
          <p:nvPr/>
        </p:nvSpPr>
        <p:spPr>
          <a:xfrm>
            <a:off x="5702838" y="3182112"/>
            <a:ext cx="786384" cy="169164"/>
          </a:xfrm>
          <a:prstGeom prst="roundRect">
            <a:avLst>
              <a:gd name="adj" fmla="val 18918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D98F77BE-56CA-E6F7-9493-B47ACBBAAF1F}"/>
              </a:ext>
            </a:extLst>
          </p:cNvPr>
          <p:cNvSpPr txBox="1"/>
          <p:nvPr/>
        </p:nvSpPr>
        <p:spPr>
          <a:xfrm>
            <a:off x="5702838" y="3182112"/>
            <a:ext cx="786384" cy="169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50" b="1" i="0" u="none" kern="0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F307CF7C-7577-1F6C-0BFB-30E158E5C046}"/>
              </a:ext>
            </a:extLst>
          </p:cNvPr>
          <p:cNvSpPr txBox="1"/>
          <p:nvPr/>
        </p:nvSpPr>
        <p:spPr>
          <a:xfrm>
            <a:off x="5702838" y="3383280"/>
            <a:ext cx="208181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arXiv — AdiBhashaa</a:t>
            </a:r>
          </a:p>
        </p:txBody>
      </p:sp>
      <p:sp>
        <p:nvSpPr>
          <p:cNvPr id="17448" name="TextBox 17447">
            <a:extLst>
              <a:ext uri="{FF2B5EF4-FFF2-40B4-BE49-F238E27FC236}">
                <a16:creationId xmlns:a16="http://schemas.microsoft.com/office/drawing/2014/main" id="{CF57490D-FBFB-EBEC-4EC0-37937C402B95}"/>
              </a:ext>
            </a:extLst>
          </p:cNvPr>
          <p:cNvSpPr txBox="1"/>
          <p:nvPr/>
        </p:nvSpPr>
        <p:spPr>
          <a:xfrm>
            <a:off x="4404390" y="3767328"/>
            <a:ext cx="33802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buNone/>
            </a:pPr>
            <a:r>
              <a:rPr sz="830" b="0" i="0" u="none" kern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80,000-sentence parallel corpus, Hindi ↔ Bhili / Mundari / Gondi / Santali — 20,000 pairs per language, from school and civic material, native-speaker validated.</a:t>
            </a:r>
          </a:p>
        </p:txBody>
      </p:sp>
      <p:sp>
        <p:nvSpPr>
          <p:cNvPr id="17450" name="TextBox 17449">
            <a:extLst>
              <a:ext uri="{FF2B5EF4-FFF2-40B4-BE49-F238E27FC236}">
                <a16:creationId xmlns:a16="http://schemas.microsoft.com/office/drawing/2014/main" id="{C66731B0-25F1-446E-F4C6-489BB84C1A0E}"/>
              </a:ext>
            </a:extLst>
          </p:cNvPr>
          <p:cNvSpPr txBox="1"/>
          <p:nvPr/>
        </p:nvSpPr>
        <p:spPr>
          <a:xfrm>
            <a:off x="4404390" y="4178808"/>
            <a:ext cx="338026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We use it for:</a:t>
            </a:r>
            <a:r>
              <a:rPr lang="en-IN"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800" i="1" dirty="0">
                <a:solidFill>
                  <a:schemeClr val="bg1">
                    <a:lumMod val="50000"/>
                  </a:schemeClr>
                </a:solidFill>
              </a:rPr>
              <a:t>research-based Hindi–tribal translation support and evaluation.</a:t>
            </a:r>
            <a:r>
              <a:rPr sz="790" b="0" i="1" u="none" kern="0" dirty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452" name="TextBox 17451">
            <a:extLst>
              <a:ext uri="{FF2B5EF4-FFF2-40B4-BE49-F238E27FC236}">
                <a16:creationId xmlns:a16="http://schemas.microsoft.com/office/drawing/2014/main" id="{8D7FBC26-00EC-44E0-4B68-968A845A823F}"/>
              </a:ext>
            </a:extLst>
          </p:cNvPr>
          <p:cNvSpPr txBox="1"/>
          <p:nvPr/>
        </p:nvSpPr>
        <p:spPr>
          <a:xfrm>
            <a:off x="4404390" y="4462272"/>
            <a:ext cx="3380262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Research release · built for exactly this education domain</a:t>
            </a:r>
          </a:p>
        </p:txBody>
      </p:sp>
      <p:sp>
        <p:nvSpPr>
          <p:cNvPr id="17454" name="TextBox 17453">
            <a:extLst>
              <a:ext uri="{FF2B5EF4-FFF2-40B4-BE49-F238E27FC236}">
                <a16:creationId xmlns:a16="http://schemas.microsoft.com/office/drawing/2014/main" id="{C9DCAA45-F8EE-D00A-D46F-02985639BA48}"/>
              </a:ext>
            </a:extLst>
          </p:cNvPr>
          <p:cNvSpPr txBox="1"/>
          <p:nvPr/>
        </p:nvSpPr>
        <p:spPr>
          <a:xfrm>
            <a:off x="4404390" y="4629361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arXiv:2512.04765  ·  Dec 2025</a:t>
            </a:r>
          </a:p>
        </p:txBody>
      </p:sp>
      <p:sp>
        <p:nvSpPr>
          <p:cNvPr id="17456" name="Rounded Rectangle 57">
            <a:extLst>
              <a:ext uri="{FF2B5EF4-FFF2-40B4-BE49-F238E27FC236}">
                <a16:creationId xmlns:a16="http://schemas.microsoft.com/office/drawing/2014/main" id="{6A8351B1-8448-2A81-056E-BDC2DDC82C1E}"/>
              </a:ext>
            </a:extLst>
          </p:cNvPr>
          <p:cNvSpPr/>
          <p:nvPr/>
        </p:nvSpPr>
        <p:spPr>
          <a:xfrm>
            <a:off x="8068116" y="3035808"/>
            <a:ext cx="370944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1DA"/>
            </a:solidFill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8" name="Rounded Rectangle 58">
            <a:extLst>
              <a:ext uri="{FF2B5EF4-FFF2-40B4-BE49-F238E27FC236}">
                <a16:creationId xmlns:a16="http://schemas.microsoft.com/office/drawing/2014/main" id="{1D006DA8-4043-47C3-82BE-C8E09180F80E}"/>
              </a:ext>
            </a:extLst>
          </p:cNvPr>
          <p:cNvSpPr/>
          <p:nvPr/>
        </p:nvSpPr>
        <p:spPr>
          <a:xfrm>
            <a:off x="8232708" y="3163824"/>
            <a:ext cx="1170432" cy="512064"/>
          </a:xfrm>
          <a:prstGeom prst="roundRect">
            <a:avLst>
              <a:gd name="adj" fmla="val 8928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4" name="Rounded Rectangle 61">
            <a:extLst>
              <a:ext uri="{FF2B5EF4-FFF2-40B4-BE49-F238E27FC236}">
                <a16:creationId xmlns:a16="http://schemas.microsoft.com/office/drawing/2014/main" id="{ECCDF14E-DDC6-4808-0B13-598D37AEAFED}"/>
              </a:ext>
            </a:extLst>
          </p:cNvPr>
          <p:cNvSpPr/>
          <p:nvPr/>
        </p:nvSpPr>
        <p:spPr>
          <a:xfrm>
            <a:off x="9531156" y="3182112"/>
            <a:ext cx="786384" cy="169164"/>
          </a:xfrm>
          <a:prstGeom prst="roundRect">
            <a:avLst>
              <a:gd name="adj" fmla="val 18918"/>
            </a:avLst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6" name="TextBox 17465">
            <a:extLst>
              <a:ext uri="{FF2B5EF4-FFF2-40B4-BE49-F238E27FC236}">
                <a16:creationId xmlns:a16="http://schemas.microsoft.com/office/drawing/2014/main" id="{C8F2DAD2-C5F4-46DA-2A14-D8981A4C8D38}"/>
              </a:ext>
            </a:extLst>
          </p:cNvPr>
          <p:cNvSpPr txBox="1"/>
          <p:nvPr/>
        </p:nvSpPr>
        <p:spPr>
          <a:xfrm>
            <a:off x="9531156" y="3182112"/>
            <a:ext cx="786384" cy="169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50" b="1" i="0" u="none" kern="0" spc="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CONTENT</a:t>
            </a:r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999263D4-05FF-0DC7-1379-C35C95B2B2E9}"/>
              </a:ext>
            </a:extLst>
          </p:cNvPr>
          <p:cNvSpPr txBox="1"/>
          <p:nvPr/>
        </p:nvSpPr>
        <p:spPr>
          <a:xfrm>
            <a:off x="9531156" y="3383280"/>
            <a:ext cx="208181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StoryWeaver</a:t>
            </a:r>
          </a:p>
        </p:txBody>
      </p:sp>
      <p:sp>
        <p:nvSpPr>
          <p:cNvPr id="17470" name="TextBox 17469">
            <a:extLst>
              <a:ext uri="{FF2B5EF4-FFF2-40B4-BE49-F238E27FC236}">
                <a16:creationId xmlns:a16="http://schemas.microsoft.com/office/drawing/2014/main" id="{5195B7D8-1CDA-A345-CE37-9BDFFBAFC4B0}"/>
              </a:ext>
            </a:extLst>
          </p:cNvPr>
          <p:cNvSpPr txBox="1"/>
          <p:nvPr/>
        </p:nvSpPr>
        <p:spPr>
          <a:xfrm>
            <a:off x="8232708" y="3767328"/>
            <a:ext cx="33802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000"/>
              </a:lnSpc>
              <a:buNone/>
            </a:pPr>
            <a:r>
              <a:rPr sz="830" b="0" i="0" u="none" kern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Pratham Books' open library — professionally illustrated early-grade storybooks already versioned into Santali and Mundari, many with read-aloud audio.</a:t>
            </a:r>
          </a:p>
        </p:txBody>
      </p:sp>
      <p:sp>
        <p:nvSpPr>
          <p:cNvPr id="17472" name="TextBox 17471">
            <a:extLst>
              <a:ext uri="{FF2B5EF4-FFF2-40B4-BE49-F238E27FC236}">
                <a16:creationId xmlns:a16="http://schemas.microsoft.com/office/drawing/2014/main" id="{B55E7644-1DC3-E34B-3648-D46173D885C3}"/>
              </a:ext>
            </a:extLst>
          </p:cNvPr>
          <p:cNvSpPr txBox="1"/>
          <p:nvPr/>
        </p:nvSpPr>
        <p:spPr>
          <a:xfrm>
            <a:off x="8232708" y="4178808"/>
            <a:ext cx="3380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We use it for:</a:t>
            </a:r>
            <a:r>
              <a:rPr lang="en-IN" sz="790" b="1" i="1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800" i="1" dirty="0">
                <a:solidFill>
                  <a:schemeClr val="bg1">
                    <a:lumMod val="50000"/>
                  </a:schemeClr>
                </a:solidFill>
              </a:rPr>
              <a:t>supplementary multilingual early-grade reading and prototype learning materials, subject to the licence of each asset.</a:t>
            </a:r>
            <a:endParaRPr sz="790" b="0" i="1" u="none" kern="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C0382080-4653-3358-E587-31E08BDE1561}"/>
              </a:ext>
            </a:extLst>
          </p:cNvPr>
          <p:cNvSpPr txBox="1"/>
          <p:nvPr/>
        </p:nvSpPr>
        <p:spPr>
          <a:xfrm>
            <a:off x="8232708" y="4462272"/>
            <a:ext cx="3380262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0" i="0" u="none" kern="0">
                <a:solidFill>
                  <a:srgbClr val="5E6B65"/>
                </a:solidFill>
                <a:latin typeface="Calibri"/>
                <a:ea typeface="Calibri"/>
                <a:cs typeface="Calibri"/>
              </a:rPr>
              <a:t>CC-BY-4.0 — free to download, remix and redistribute</a:t>
            </a: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FF0B447B-62CA-E5B6-0291-19E335FDB65A}"/>
              </a:ext>
            </a:extLst>
          </p:cNvPr>
          <p:cNvSpPr txBox="1"/>
          <p:nvPr/>
        </p:nvSpPr>
        <p:spPr>
          <a:xfrm>
            <a:off x="8232708" y="4629361"/>
            <a:ext cx="3380262" cy="113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40" b="1" i="0" u="none" kern="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storyweaver.org.in</a:t>
            </a:r>
          </a:p>
        </p:txBody>
      </p:sp>
      <p:sp>
        <p:nvSpPr>
          <p:cNvPr id="17478" name="Rounded Rectangle 68">
            <a:extLst>
              <a:ext uri="{FF2B5EF4-FFF2-40B4-BE49-F238E27FC236}">
                <a16:creationId xmlns:a16="http://schemas.microsoft.com/office/drawing/2014/main" id="{B068767D-8E24-1B9F-1FD5-93B6DA104D98}"/>
              </a:ext>
            </a:extLst>
          </p:cNvPr>
          <p:cNvSpPr/>
          <p:nvPr/>
        </p:nvSpPr>
        <p:spPr>
          <a:xfrm>
            <a:off x="411480" y="4919472"/>
            <a:ext cx="1818132" cy="776922"/>
          </a:xfrm>
          <a:prstGeom prst="roundRect">
            <a:avLst>
              <a:gd name="adj" fmla="val 7211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80" name="Oval 17479">
            <a:extLst>
              <a:ext uri="{FF2B5EF4-FFF2-40B4-BE49-F238E27FC236}">
                <a16:creationId xmlns:a16="http://schemas.microsoft.com/office/drawing/2014/main" id="{B8EEFB54-E91D-3C94-C9FF-E88B13B8F453}"/>
              </a:ext>
            </a:extLst>
          </p:cNvPr>
          <p:cNvSpPr/>
          <p:nvPr/>
        </p:nvSpPr>
        <p:spPr>
          <a:xfrm>
            <a:off x="530352" y="5029200"/>
            <a:ext cx="256032" cy="256032"/>
          </a:xfrm>
          <a:prstGeom prst="ellipse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82" name="Picture 17481" descr="7be86d0b.png">
            <a:extLst>
              <a:ext uri="{FF2B5EF4-FFF2-40B4-BE49-F238E27FC236}">
                <a16:creationId xmlns:a16="http://schemas.microsoft.com/office/drawing/2014/main" id="{CBE9EE91-24BB-4692-4FFE-301C3E674A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" y="5067604"/>
            <a:ext cx="179222" cy="179222"/>
          </a:xfrm>
          <a:prstGeom prst="rect">
            <a:avLst/>
          </a:prstGeom>
        </p:spPr>
      </p:pic>
      <p:sp>
        <p:nvSpPr>
          <p:cNvPr id="17484" name="TextBox 17483">
            <a:extLst>
              <a:ext uri="{FF2B5EF4-FFF2-40B4-BE49-F238E27FC236}">
                <a16:creationId xmlns:a16="http://schemas.microsoft.com/office/drawing/2014/main" id="{A4E8C63C-434F-DE7A-E58B-75FE9718EE11}"/>
              </a:ext>
            </a:extLst>
          </p:cNvPr>
          <p:cNvSpPr txBox="1"/>
          <p:nvPr/>
        </p:nvSpPr>
        <p:spPr>
          <a:xfrm>
            <a:off x="841247" y="5020056"/>
            <a:ext cx="12694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3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PALASH Programme</a:t>
            </a:r>
          </a:p>
        </p:txBody>
      </p:sp>
      <p:sp>
        <p:nvSpPr>
          <p:cNvPr id="17486" name="TextBox 17485">
            <a:extLst>
              <a:ext uri="{FF2B5EF4-FFF2-40B4-BE49-F238E27FC236}">
                <a16:creationId xmlns:a16="http://schemas.microsoft.com/office/drawing/2014/main" id="{65241DEB-4EDB-419E-129A-6F6DC864A19B}"/>
              </a:ext>
            </a:extLst>
          </p:cNvPr>
          <p:cNvSpPr txBox="1"/>
          <p:nvPr/>
        </p:nvSpPr>
        <p:spPr>
          <a:xfrm>
            <a:off x="530352" y="5330952"/>
            <a:ext cx="15803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en-US" sz="7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UNICEF + JCERT. 259-school pilot → 1,041+ schools, 6 districts, 5 tribal languages.</a:t>
            </a:r>
          </a:p>
        </p:txBody>
      </p:sp>
      <p:sp>
        <p:nvSpPr>
          <p:cNvPr id="17488" name="Rounded Rectangle 73">
            <a:extLst>
              <a:ext uri="{FF2B5EF4-FFF2-40B4-BE49-F238E27FC236}">
                <a16:creationId xmlns:a16="http://schemas.microsoft.com/office/drawing/2014/main" id="{E2A44DF2-5262-A6D2-5C0E-0C4CE12C63D6}"/>
              </a:ext>
            </a:extLst>
          </p:cNvPr>
          <p:cNvSpPr/>
          <p:nvPr/>
        </p:nvSpPr>
        <p:spPr>
          <a:xfrm>
            <a:off x="2321052" y="4919472"/>
            <a:ext cx="1818132" cy="776922"/>
          </a:xfrm>
          <a:prstGeom prst="roundRect">
            <a:avLst>
              <a:gd name="adj" fmla="val 7211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90" name="Oval 17489">
            <a:extLst>
              <a:ext uri="{FF2B5EF4-FFF2-40B4-BE49-F238E27FC236}">
                <a16:creationId xmlns:a16="http://schemas.microsoft.com/office/drawing/2014/main" id="{325B7E33-C007-FED3-D0A5-238B407FEE85}"/>
              </a:ext>
            </a:extLst>
          </p:cNvPr>
          <p:cNvSpPr/>
          <p:nvPr/>
        </p:nvSpPr>
        <p:spPr>
          <a:xfrm>
            <a:off x="2439924" y="5029200"/>
            <a:ext cx="256032" cy="256032"/>
          </a:xfrm>
          <a:prstGeom prst="ellipse">
            <a:avLst/>
          </a:prstGeom>
          <a:solidFill>
            <a:srgbClr val="2E8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92" name="Picture 17491" descr="db7d195f.png">
            <a:extLst>
              <a:ext uri="{FF2B5EF4-FFF2-40B4-BE49-F238E27FC236}">
                <a16:creationId xmlns:a16="http://schemas.microsoft.com/office/drawing/2014/main" id="{27DB0E95-EB33-9A04-C6C9-BEB85C29A3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8328" y="5067604"/>
            <a:ext cx="179222" cy="179222"/>
          </a:xfrm>
          <a:prstGeom prst="rect">
            <a:avLst/>
          </a:prstGeom>
        </p:spPr>
      </p:pic>
      <p:sp>
        <p:nvSpPr>
          <p:cNvPr id="17494" name="TextBox 17493">
            <a:extLst>
              <a:ext uri="{FF2B5EF4-FFF2-40B4-BE49-F238E27FC236}">
                <a16:creationId xmlns:a16="http://schemas.microsoft.com/office/drawing/2014/main" id="{5E25E553-DB89-7586-F334-BD6E6D65CC9D}"/>
              </a:ext>
            </a:extLst>
          </p:cNvPr>
          <p:cNvSpPr txBox="1"/>
          <p:nvPr/>
        </p:nvSpPr>
        <p:spPr>
          <a:xfrm>
            <a:off x="2750820" y="5020056"/>
            <a:ext cx="12694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3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NEP 2020</a:t>
            </a:r>
          </a:p>
        </p:txBody>
      </p:sp>
      <p:sp>
        <p:nvSpPr>
          <p:cNvPr id="17496" name="TextBox 17495">
            <a:extLst>
              <a:ext uri="{FF2B5EF4-FFF2-40B4-BE49-F238E27FC236}">
                <a16:creationId xmlns:a16="http://schemas.microsoft.com/office/drawing/2014/main" id="{F96043B2-F47A-70C4-CB20-203A453ED93D}"/>
              </a:ext>
            </a:extLst>
          </p:cNvPr>
          <p:cNvSpPr txBox="1"/>
          <p:nvPr/>
        </p:nvSpPr>
        <p:spPr>
          <a:xfrm>
            <a:off x="2439924" y="5330952"/>
            <a:ext cx="1681002" cy="440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73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National Education Policy — recommends mother tongue or home language use in early education wherever possible.</a:t>
            </a:r>
          </a:p>
          <a:p>
            <a:pPr algn="l">
              <a:lnSpc>
                <a:spcPct val="92000"/>
              </a:lnSpc>
              <a:buNone/>
            </a:pPr>
            <a:endParaRPr sz="730" b="0" i="0" u="none" kern="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98" name="Rounded Rectangle 78">
            <a:extLst>
              <a:ext uri="{FF2B5EF4-FFF2-40B4-BE49-F238E27FC236}">
                <a16:creationId xmlns:a16="http://schemas.microsoft.com/office/drawing/2014/main" id="{02E50A42-A737-BF49-59CE-9760F0DDF111}"/>
              </a:ext>
            </a:extLst>
          </p:cNvPr>
          <p:cNvSpPr/>
          <p:nvPr/>
        </p:nvSpPr>
        <p:spPr>
          <a:xfrm>
            <a:off x="4230624" y="4919472"/>
            <a:ext cx="1818132" cy="776922"/>
          </a:xfrm>
          <a:prstGeom prst="roundRect">
            <a:avLst>
              <a:gd name="adj" fmla="val 7211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00" name="Oval 17499">
            <a:extLst>
              <a:ext uri="{FF2B5EF4-FFF2-40B4-BE49-F238E27FC236}">
                <a16:creationId xmlns:a16="http://schemas.microsoft.com/office/drawing/2014/main" id="{4F2D5C18-7577-2ED6-4508-6152D2C4A325}"/>
              </a:ext>
            </a:extLst>
          </p:cNvPr>
          <p:cNvSpPr/>
          <p:nvPr/>
        </p:nvSpPr>
        <p:spPr>
          <a:xfrm>
            <a:off x="4349496" y="5029200"/>
            <a:ext cx="256032" cy="256032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02" name="Picture 17501" descr="7777b8d8.png">
            <a:extLst>
              <a:ext uri="{FF2B5EF4-FFF2-40B4-BE49-F238E27FC236}">
                <a16:creationId xmlns:a16="http://schemas.microsoft.com/office/drawing/2014/main" id="{C8CEB69D-B470-4E2B-C17F-9255C376CA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7900" y="5067604"/>
            <a:ext cx="179222" cy="179222"/>
          </a:xfrm>
          <a:prstGeom prst="rect">
            <a:avLst/>
          </a:prstGeom>
        </p:spPr>
      </p:pic>
      <p:sp>
        <p:nvSpPr>
          <p:cNvPr id="17504" name="TextBox 17503">
            <a:extLst>
              <a:ext uri="{FF2B5EF4-FFF2-40B4-BE49-F238E27FC236}">
                <a16:creationId xmlns:a16="http://schemas.microsoft.com/office/drawing/2014/main" id="{88C577E1-520F-1830-E733-F73C65A7839E}"/>
              </a:ext>
            </a:extLst>
          </p:cNvPr>
          <p:cNvSpPr txBox="1"/>
          <p:nvPr/>
        </p:nvSpPr>
        <p:spPr>
          <a:xfrm>
            <a:off x="4660392" y="5020056"/>
            <a:ext cx="12694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3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AI4Bharat</a:t>
            </a:r>
          </a:p>
        </p:txBody>
      </p:sp>
      <p:sp>
        <p:nvSpPr>
          <p:cNvPr id="17506" name="TextBox 17505">
            <a:extLst>
              <a:ext uri="{FF2B5EF4-FFF2-40B4-BE49-F238E27FC236}">
                <a16:creationId xmlns:a16="http://schemas.microsoft.com/office/drawing/2014/main" id="{E7BBABFD-532F-7E29-C54C-A9E3CF676FF2}"/>
              </a:ext>
            </a:extLst>
          </p:cNvPr>
          <p:cNvSpPr txBox="1"/>
          <p:nvPr/>
        </p:nvSpPr>
        <p:spPr>
          <a:xfrm>
            <a:off x="4349496" y="5330952"/>
            <a:ext cx="15803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7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Open-source Indic NLP and speech research, IIT Madras. ai4bharat.iitm.ac.in</a:t>
            </a:r>
          </a:p>
        </p:txBody>
      </p:sp>
      <p:sp>
        <p:nvSpPr>
          <p:cNvPr id="17508" name="Rounded Rectangle 83">
            <a:extLst>
              <a:ext uri="{FF2B5EF4-FFF2-40B4-BE49-F238E27FC236}">
                <a16:creationId xmlns:a16="http://schemas.microsoft.com/office/drawing/2014/main" id="{2EE84303-D665-839F-70D4-C3A9A6AF5AA3}"/>
              </a:ext>
            </a:extLst>
          </p:cNvPr>
          <p:cNvSpPr/>
          <p:nvPr/>
        </p:nvSpPr>
        <p:spPr>
          <a:xfrm>
            <a:off x="6140196" y="4919472"/>
            <a:ext cx="1818132" cy="776922"/>
          </a:xfrm>
          <a:prstGeom prst="roundRect">
            <a:avLst>
              <a:gd name="adj" fmla="val 7211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10" name="Oval 17509">
            <a:extLst>
              <a:ext uri="{FF2B5EF4-FFF2-40B4-BE49-F238E27FC236}">
                <a16:creationId xmlns:a16="http://schemas.microsoft.com/office/drawing/2014/main" id="{C0E2882E-8C09-DC45-29C3-CA2B74F8FCE5}"/>
              </a:ext>
            </a:extLst>
          </p:cNvPr>
          <p:cNvSpPr/>
          <p:nvPr/>
        </p:nvSpPr>
        <p:spPr>
          <a:xfrm>
            <a:off x="6259068" y="5029200"/>
            <a:ext cx="256032" cy="256032"/>
          </a:xfrm>
          <a:prstGeom prst="ellipse">
            <a:avLst/>
          </a:prstGeom>
          <a:solidFill>
            <a:srgbClr val="C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12" name="Picture 17511" descr="3686faf8.png">
            <a:extLst>
              <a:ext uri="{FF2B5EF4-FFF2-40B4-BE49-F238E27FC236}">
                <a16:creationId xmlns:a16="http://schemas.microsoft.com/office/drawing/2014/main" id="{E07A9E75-AD4A-D155-E373-DDC69BEEE7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472" y="5067604"/>
            <a:ext cx="179222" cy="179222"/>
          </a:xfrm>
          <a:prstGeom prst="rect">
            <a:avLst/>
          </a:prstGeom>
        </p:spPr>
      </p:pic>
      <p:sp>
        <p:nvSpPr>
          <p:cNvPr id="17514" name="TextBox 17513">
            <a:extLst>
              <a:ext uri="{FF2B5EF4-FFF2-40B4-BE49-F238E27FC236}">
                <a16:creationId xmlns:a16="http://schemas.microsoft.com/office/drawing/2014/main" id="{87C44E54-51E1-B29E-D04A-147CB5F59FD9}"/>
              </a:ext>
            </a:extLst>
          </p:cNvPr>
          <p:cNvSpPr txBox="1"/>
          <p:nvPr/>
        </p:nvSpPr>
        <p:spPr>
          <a:xfrm>
            <a:off x="6569964" y="5020056"/>
            <a:ext cx="12694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3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Adi-Vaani</a:t>
            </a:r>
          </a:p>
        </p:txBody>
      </p:sp>
      <p:sp>
        <p:nvSpPr>
          <p:cNvPr id="17516" name="TextBox 17515">
            <a:extLst>
              <a:ext uri="{FF2B5EF4-FFF2-40B4-BE49-F238E27FC236}">
                <a16:creationId xmlns:a16="http://schemas.microsoft.com/office/drawing/2014/main" id="{C8B670A5-F268-2696-079B-9131B3F61F59}"/>
              </a:ext>
            </a:extLst>
          </p:cNvPr>
          <p:cNvSpPr txBox="1"/>
          <p:nvPr/>
        </p:nvSpPr>
        <p:spPr>
          <a:xfrm>
            <a:off x="6259068" y="5330952"/>
            <a:ext cx="1580388" cy="440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7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and language initiative showing growing public-sector interest in Indian tribal-language tech.</a:t>
            </a:r>
          </a:p>
          <a:p>
            <a:pPr algn="l">
              <a:lnSpc>
                <a:spcPct val="92000"/>
              </a:lnSpc>
              <a:buNone/>
            </a:pPr>
            <a:endParaRPr sz="730" b="0" i="0" u="none" kern="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18" name="Rounded Rectangle 88">
            <a:extLst>
              <a:ext uri="{FF2B5EF4-FFF2-40B4-BE49-F238E27FC236}">
                <a16:creationId xmlns:a16="http://schemas.microsoft.com/office/drawing/2014/main" id="{2D8B1A70-2259-B255-A7A5-FCB7EC2D862E}"/>
              </a:ext>
            </a:extLst>
          </p:cNvPr>
          <p:cNvSpPr/>
          <p:nvPr/>
        </p:nvSpPr>
        <p:spPr>
          <a:xfrm>
            <a:off x="8049767" y="4919472"/>
            <a:ext cx="1818132" cy="776922"/>
          </a:xfrm>
          <a:prstGeom prst="roundRect">
            <a:avLst>
              <a:gd name="adj" fmla="val 7211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20" name="Oval 17519">
            <a:extLst>
              <a:ext uri="{FF2B5EF4-FFF2-40B4-BE49-F238E27FC236}">
                <a16:creationId xmlns:a16="http://schemas.microsoft.com/office/drawing/2014/main" id="{E0014C81-61DA-319F-0FEF-46805E0F57D1}"/>
              </a:ext>
            </a:extLst>
          </p:cNvPr>
          <p:cNvSpPr/>
          <p:nvPr/>
        </p:nvSpPr>
        <p:spPr>
          <a:xfrm>
            <a:off x="8168640" y="5029200"/>
            <a:ext cx="256032" cy="256032"/>
          </a:xfrm>
          <a:prstGeom prst="ellipse">
            <a:avLst/>
          </a:prstGeom>
          <a:solidFill>
            <a:srgbClr val="0B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22" name="Picture 17521" descr="47d5a8b2.png">
            <a:extLst>
              <a:ext uri="{FF2B5EF4-FFF2-40B4-BE49-F238E27FC236}">
                <a16:creationId xmlns:a16="http://schemas.microsoft.com/office/drawing/2014/main" id="{F5396335-15F7-11DE-A5D2-0D3C2319F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7044" y="5067604"/>
            <a:ext cx="179222" cy="179222"/>
          </a:xfrm>
          <a:prstGeom prst="rect">
            <a:avLst/>
          </a:prstGeom>
        </p:spPr>
      </p:pic>
      <p:sp>
        <p:nvSpPr>
          <p:cNvPr id="17524" name="TextBox 17523">
            <a:extLst>
              <a:ext uri="{FF2B5EF4-FFF2-40B4-BE49-F238E27FC236}">
                <a16:creationId xmlns:a16="http://schemas.microsoft.com/office/drawing/2014/main" id="{B1FC603E-782C-4631-C70C-5F1E20DF6489}"/>
              </a:ext>
            </a:extLst>
          </p:cNvPr>
          <p:cNvSpPr txBox="1"/>
          <p:nvPr/>
        </p:nvSpPr>
        <p:spPr>
          <a:xfrm>
            <a:off x="8479536" y="5020056"/>
            <a:ext cx="12694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3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National Digital Repository</a:t>
            </a:r>
          </a:p>
        </p:txBody>
      </p:sp>
      <p:sp>
        <p:nvSpPr>
          <p:cNvPr id="17526" name="TextBox 17525">
            <a:extLst>
              <a:ext uri="{FF2B5EF4-FFF2-40B4-BE49-F238E27FC236}">
                <a16:creationId xmlns:a16="http://schemas.microsoft.com/office/drawing/2014/main" id="{4C8B401C-A9A7-FC43-563C-C471ED10EC54}"/>
              </a:ext>
            </a:extLst>
          </p:cNvPr>
          <p:cNvSpPr txBox="1"/>
          <p:nvPr/>
        </p:nvSpPr>
        <p:spPr>
          <a:xfrm>
            <a:off x="8168640" y="5330952"/>
            <a:ext cx="15803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lang="en-US" sz="730" b="0" i="0" u="none" kern="0" dirty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repository.education.gov.in lists “Textbooks in tribal language, Jharkhand”.</a:t>
            </a:r>
          </a:p>
        </p:txBody>
      </p:sp>
      <p:sp>
        <p:nvSpPr>
          <p:cNvPr id="17528" name="Rounded Rectangle 93">
            <a:extLst>
              <a:ext uri="{FF2B5EF4-FFF2-40B4-BE49-F238E27FC236}">
                <a16:creationId xmlns:a16="http://schemas.microsoft.com/office/drawing/2014/main" id="{88E378F2-1D1B-37E2-A5EB-D2761BD69308}"/>
              </a:ext>
            </a:extLst>
          </p:cNvPr>
          <p:cNvSpPr/>
          <p:nvPr/>
        </p:nvSpPr>
        <p:spPr>
          <a:xfrm>
            <a:off x="9959340" y="4919472"/>
            <a:ext cx="1818132" cy="776922"/>
          </a:xfrm>
          <a:prstGeom prst="roundRect">
            <a:avLst>
              <a:gd name="adj" fmla="val 7211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30" name="Oval 17529">
            <a:extLst>
              <a:ext uri="{FF2B5EF4-FFF2-40B4-BE49-F238E27FC236}">
                <a16:creationId xmlns:a16="http://schemas.microsoft.com/office/drawing/2014/main" id="{D28BFE3B-61DF-C51A-3D31-234E11F4CCF7}"/>
              </a:ext>
            </a:extLst>
          </p:cNvPr>
          <p:cNvSpPr/>
          <p:nvPr/>
        </p:nvSpPr>
        <p:spPr>
          <a:xfrm>
            <a:off x="10078212" y="5029200"/>
            <a:ext cx="256032" cy="256032"/>
          </a:xfrm>
          <a:prstGeom prst="ellipse">
            <a:avLst/>
          </a:prstGeom>
          <a:solidFill>
            <a:srgbClr val="F25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32" name="Picture 17531" descr="9bfac9a7.png">
            <a:extLst>
              <a:ext uri="{FF2B5EF4-FFF2-40B4-BE49-F238E27FC236}">
                <a16:creationId xmlns:a16="http://schemas.microsoft.com/office/drawing/2014/main" id="{A62263CF-7C2B-62AB-F7B0-699D369DA7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6616" y="5067604"/>
            <a:ext cx="179222" cy="179222"/>
          </a:xfrm>
          <a:prstGeom prst="rect">
            <a:avLst/>
          </a:prstGeom>
        </p:spPr>
      </p:pic>
      <p:sp>
        <p:nvSpPr>
          <p:cNvPr id="17534" name="TextBox 17533">
            <a:extLst>
              <a:ext uri="{FF2B5EF4-FFF2-40B4-BE49-F238E27FC236}">
                <a16:creationId xmlns:a16="http://schemas.microsoft.com/office/drawing/2014/main" id="{E3B9762E-D7F3-D987-E1F8-89A190FF1DC5}"/>
              </a:ext>
            </a:extLst>
          </p:cNvPr>
          <p:cNvSpPr txBox="1"/>
          <p:nvPr/>
        </p:nvSpPr>
        <p:spPr>
          <a:xfrm>
            <a:off x="10389108" y="5020056"/>
            <a:ext cx="12694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30" b="1" i="0" u="none" kern="0">
                <a:solidFill>
                  <a:srgbClr val="0B2E27"/>
                </a:solidFill>
                <a:latin typeface="Cambria"/>
                <a:ea typeface="Cambria"/>
                <a:cs typeface="Cambria"/>
              </a:rPr>
              <a:t>Santali open corpus</a:t>
            </a:r>
          </a:p>
        </p:txBody>
      </p:sp>
      <p:sp>
        <p:nvSpPr>
          <p:cNvPr id="17536" name="TextBox 17535">
            <a:extLst>
              <a:ext uri="{FF2B5EF4-FFF2-40B4-BE49-F238E27FC236}">
                <a16:creationId xmlns:a16="http://schemas.microsoft.com/office/drawing/2014/main" id="{0167C728-B6A9-06C4-BC4A-8CFBF3C33676}"/>
              </a:ext>
            </a:extLst>
          </p:cNvPr>
          <p:cNvSpPr txBox="1"/>
          <p:nvPr/>
        </p:nvSpPr>
        <p:spPr>
          <a:xfrm>
            <a:off x="10078212" y="5330952"/>
            <a:ext cx="15803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730" b="0" i="0" u="none" kern="0">
                <a:solidFill>
                  <a:srgbClr val="202624"/>
                </a:solidFill>
                <a:latin typeface="Calibri"/>
                <a:ea typeface="Calibri"/>
                <a:cs typeface="Calibri"/>
              </a:rPr>
              <a:t>Prasanta-Hembram Santali translation and Ol Chiki dictionary files — CC0 1.0.</a:t>
            </a:r>
          </a:p>
        </p:txBody>
      </p:sp>
      <p:sp>
        <p:nvSpPr>
          <p:cNvPr id="17538" name="Rounded Rectangle 98">
            <a:extLst>
              <a:ext uri="{FF2B5EF4-FFF2-40B4-BE49-F238E27FC236}">
                <a16:creationId xmlns:a16="http://schemas.microsoft.com/office/drawing/2014/main" id="{1EFA005A-270A-8546-F393-C8847E2BBB83}"/>
              </a:ext>
            </a:extLst>
          </p:cNvPr>
          <p:cNvSpPr/>
          <p:nvPr/>
        </p:nvSpPr>
        <p:spPr>
          <a:xfrm>
            <a:off x="2321053" y="5782327"/>
            <a:ext cx="7546846" cy="493776"/>
          </a:xfrm>
          <a:prstGeom prst="roundRect">
            <a:avLst>
              <a:gd name="adj" fmla="val 19444"/>
            </a:avLst>
          </a:prstGeom>
          <a:solidFill>
            <a:srgbClr val="FA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540" name="Picture 17539" descr="ce687943.png">
            <a:extLst>
              <a:ext uri="{FF2B5EF4-FFF2-40B4-BE49-F238E27FC236}">
                <a16:creationId xmlns:a16="http://schemas.microsoft.com/office/drawing/2014/main" id="{A22F7985-D4F2-B7A5-36E1-BDDE48A76454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365978" y="945454"/>
            <a:ext cx="137680" cy="137680"/>
          </a:xfrm>
          <a:prstGeom prst="rect">
            <a:avLst/>
          </a:prstGeom>
        </p:spPr>
      </p:pic>
      <p:sp>
        <p:nvSpPr>
          <p:cNvPr id="17542" name="TextBox 17541">
            <a:extLst>
              <a:ext uri="{FF2B5EF4-FFF2-40B4-BE49-F238E27FC236}">
                <a16:creationId xmlns:a16="http://schemas.microsoft.com/office/drawing/2014/main" id="{57528F13-78E0-BEB3-2C93-913A10E22D6D}"/>
              </a:ext>
            </a:extLst>
          </p:cNvPr>
          <p:cNvSpPr txBox="1"/>
          <p:nvPr/>
        </p:nvSpPr>
        <p:spPr>
          <a:xfrm>
            <a:off x="3553213" y="953868"/>
            <a:ext cx="10780776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84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Sources and citations are provided for verification; prototype data and AI-generated outputs are clearly identified.</a:t>
            </a:r>
            <a:endParaRPr sz="840" b="1" i="1" u="none" kern="0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544" name="Picture 17543">
            <a:extLst>
              <a:ext uri="{FF2B5EF4-FFF2-40B4-BE49-F238E27FC236}">
                <a16:creationId xmlns:a16="http://schemas.microsoft.com/office/drawing/2014/main" id="{8494E6E9-6E3E-7FE9-9D77-EE21024D06F1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35000"/>
          </a:blip>
          <a:stretch>
            <a:fillRect/>
          </a:stretch>
        </p:blipFill>
        <p:spPr>
          <a:xfrm>
            <a:off x="3764" y="48388"/>
            <a:ext cx="407716" cy="407716"/>
          </a:xfrm>
          <a:prstGeom prst="rect">
            <a:avLst/>
          </a:prstGeom>
        </p:spPr>
      </p:pic>
      <p:sp>
        <p:nvSpPr>
          <p:cNvPr id="17546" name="TextBox 17545">
            <a:extLst>
              <a:ext uri="{FF2B5EF4-FFF2-40B4-BE49-F238E27FC236}">
                <a16:creationId xmlns:a16="http://schemas.microsoft.com/office/drawing/2014/main" id="{EC83BD7C-AD96-EB0B-5F1F-B8AF62C1150E}"/>
              </a:ext>
            </a:extLst>
          </p:cNvPr>
          <p:cNvSpPr txBox="1"/>
          <p:nvPr/>
        </p:nvSpPr>
        <p:spPr>
          <a:xfrm>
            <a:off x="2436729" y="5754567"/>
            <a:ext cx="9475138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/>
            <a:r>
              <a:rPr lang="en-IN" sz="1600" b="1" i="0" u="none" kern="0" spc="80" dirty="0">
                <a:solidFill>
                  <a:schemeClr val="accent2">
                    <a:lumMod val="50000"/>
                  </a:schemeClr>
                </a:solidFill>
                <a:latin typeface="Sitka Subheading Semibold" pitchFamily="2" charset="0"/>
                <a:ea typeface="Verdana" panose="020B0604030504040204" pitchFamily="34" charset="0"/>
                <a:cs typeface="Calibri"/>
              </a:rPr>
              <a:t>DEMO LINKS :-   </a:t>
            </a:r>
            <a:r>
              <a:rPr lang="en-I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DLaM Display" panose="02010000000000000000" pitchFamily="2" charset="0"/>
              </a:rPr>
              <a:t>Teacher Webapp:</a:t>
            </a:r>
            <a:r>
              <a:rPr lang="en-I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DLaM Display" panose="02010000000000000000" pitchFamily="2" charset="0"/>
              </a:rPr>
              <a:t>      </a:t>
            </a:r>
            <a:r>
              <a:rPr lang="en-IN" sz="1600" dirty="0">
                <a:hlinkClick r:id="rId16"/>
              </a:rPr>
              <a:t>https://palashvani-sih26042.vercel.app</a:t>
            </a:r>
            <a:endParaRPr lang="en-IN" sz="1600" dirty="0"/>
          </a:p>
          <a:p>
            <a:pPr lvl="0"/>
            <a:r>
              <a:rPr lang="en-IN" sz="1600" b="1" dirty="0"/>
              <a:t>                                      </a:t>
            </a:r>
            <a:r>
              <a:rPr lang="en-I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 Portal:</a:t>
            </a:r>
            <a:r>
              <a:rPr lang="en-I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</a:t>
            </a:r>
            <a:r>
              <a:rPr lang="en-IN" sz="1600" dirty="0">
                <a:hlinkClick r:id="rId17"/>
              </a:rPr>
              <a:t>https://palashvani-sih26042-admin.vercel.app</a:t>
            </a:r>
            <a:endParaRPr lang="en-IN" sz="1600" dirty="0"/>
          </a:p>
          <a:p>
            <a:pPr>
              <a:buNone/>
            </a:pPr>
            <a:endParaRPr sz="1600" b="1" i="1" u="sng" kern="0" spc="80" dirty="0">
              <a:solidFill>
                <a:srgbClr val="0062AC"/>
              </a:solidFill>
              <a:latin typeface="Sitka Subheading Semibold" pitchFamily="2" charset="0"/>
              <a:ea typeface="Verdana" panose="020B0604030504040204" pitchFamily="34" charset="0"/>
              <a:cs typeface="Calibri"/>
            </a:endParaRPr>
          </a:p>
        </p:txBody>
      </p:sp>
      <p:pic>
        <p:nvPicPr>
          <p:cNvPr id="17550" name="Picture 17549" descr="e609a74b.png">
            <a:extLst>
              <a:ext uri="{FF2B5EF4-FFF2-40B4-BE49-F238E27FC236}">
                <a16:creationId xmlns:a16="http://schemas.microsoft.com/office/drawing/2014/main" id="{201A0400-FE21-A995-8247-B91AB38109F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17832" y="3218688"/>
            <a:ext cx="400184" cy="365760"/>
          </a:xfrm>
          <a:prstGeom prst="rect">
            <a:avLst/>
          </a:prstGeom>
        </p:spPr>
      </p:pic>
      <p:pic>
        <p:nvPicPr>
          <p:cNvPr id="17552" name="Picture 17551">
            <a:extLst>
              <a:ext uri="{FF2B5EF4-FFF2-40B4-BE49-F238E27FC236}">
                <a16:creationId xmlns:a16="http://schemas.microsoft.com/office/drawing/2014/main" id="{8B73BA66-9E8D-C607-40B5-4708150F7A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2790" y="3230143"/>
            <a:ext cx="356994" cy="3800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23B030-860A-0D8C-B00C-0DB069DE63D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9902" y="424513"/>
            <a:ext cx="1144216" cy="4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50239E-D029-4B3C-7F9F-E640D2F83068}"/>
              </a:ext>
            </a:extLst>
          </p:cNvPr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79BFA186-5DB9-C196-F8CB-9649B92312F6}"/>
              </a:ext>
            </a:extLst>
          </p:cNvPr>
          <p:cNvSpPr/>
          <p:nvPr/>
        </p:nvSpPr>
        <p:spPr>
          <a:xfrm>
            <a:off x="548640" y="803892"/>
            <a:ext cx="9450766" cy="287658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9263EF4-3AC9-8D41-ED13-1932FFB9526A}"/>
              </a:ext>
            </a:extLst>
          </p:cNvPr>
          <p:cNvSpPr/>
          <p:nvPr/>
        </p:nvSpPr>
        <p:spPr>
          <a:xfrm>
            <a:off x="548640" y="745973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/ INTERNAL PRESENTATION ONLY  —  WILL REMOVE THIS SLIDE BEFORE THE OFFICIAL SIH PORTAL SUBMISSION</a:t>
            </a:r>
            <a:endParaRPr lang="en-US" sz="12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BED4F17-A22B-5994-0CC2-EF16BDF51C10}"/>
              </a:ext>
            </a:extLst>
          </p:cNvPr>
          <p:cNvSpPr/>
          <p:nvPr/>
        </p:nvSpPr>
        <p:spPr>
          <a:xfrm>
            <a:off x="548640" y="2061363"/>
            <a:ext cx="7946136" cy="3797611"/>
          </a:xfrm>
          <a:prstGeom prst="roundRect">
            <a:avLst>
              <a:gd name="adj" fmla="val 2637"/>
            </a:avLst>
          </a:prstGeom>
          <a:solidFill>
            <a:srgbClr val="0E1E47"/>
          </a:solidFill>
          <a:ln/>
          <a:effectLst>
            <a:outerShdw blurRad="76200" dist="25400" dir="5400000" algn="bl" rotWithShape="0">
              <a:srgbClr val="9AA3B2">
                <a:alpha val="22000"/>
              </a:srgbClr>
            </a:outerShdw>
          </a:effectLst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533F7C6-C82E-1C38-E034-BDB82EF95A1F}"/>
              </a:ext>
            </a:extLst>
          </p:cNvPr>
          <p:cNvSpPr/>
          <p:nvPr/>
        </p:nvSpPr>
        <p:spPr>
          <a:xfrm>
            <a:off x="7589520" y="1947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D008AFD7-CCAC-C064-3384-F40195961714}"/>
              </a:ext>
            </a:extLst>
          </p:cNvPr>
          <p:cNvSpPr/>
          <p:nvPr/>
        </p:nvSpPr>
        <p:spPr>
          <a:xfrm>
            <a:off x="9313116" y="1919769"/>
            <a:ext cx="1929387" cy="3980547"/>
          </a:xfrm>
          <a:prstGeom prst="roundRect">
            <a:avLst>
              <a:gd name="adj" fmla="val 10000"/>
            </a:avLst>
          </a:prstGeom>
          <a:solidFill>
            <a:srgbClr val="0E1E47"/>
          </a:solidFill>
          <a:ln/>
        </p:spPr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1DDFAC9-1003-DFFB-C8B8-B5A8C3905C2E}"/>
              </a:ext>
            </a:extLst>
          </p:cNvPr>
          <p:cNvSpPr/>
          <p:nvPr/>
        </p:nvSpPr>
        <p:spPr>
          <a:xfrm>
            <a:off x="9395415" y="1992415"/>
            <a:ext cx="1754366" cy="3810583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34" name="Rounded Rectangle 34">
            <a:extLst>
              <a:ext uri="{FF2B5EF4-FFF2-40B4-BE49-F238E27FC236}">
                <a16:creationId xmlns:a16="http://schemas.microsoft.com/office/drawing/2014/main" id="{44AA82FC-F71E-49DD-F9E2-3B74E28733D5}"/>
              </a:ext>
            </a:extLst>
          </p:cNvPr>
          <p:cNvSpPr/>
          <p:nvPr/>
        </p:nvSpPr>
        <p:spPr>
          <a:xfrm>
            <a:off x="548639" y="1222006"/>
            <a:ext cx="11141915" cy="628780"/>
          </a:xfrm>
          <a:prstGeom prst="roundRect">
            <a:avLst>
              <a:gd name="adj" fmla="val 6428"/>
            </a:avLst>
          </a:prstGeom>
          <a:solidFill>
            <a:srgbClr val="F1F6E6"/>
          </a:solidFill>
          <a:ln>
            <a:noFill/>
          </a:ln>
          <a:effectLst>
            <a:outerShdw blurRad="88696" dist="25603" dir="5400000" algn="bl" rotWithShape="0">
              <a:srgbClr val="9C918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1DDC79C3-123B-ABD9-2EC5-3BFA40262CC3}"/>
              </a:ext>
            </a:extLst>
          </p:cNvPr>
          <p:cNvSpPr/>
          <p:nvPr/>
        </p:nvSpPr>
        <p:spPr>
          <a:xfrm>
            <a:off x="594360" y="1269383"/>
            <a:ext cx="5656352" cy="600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E4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PROTOTYPE PREVIEW OF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F3FC368-72A9-3118-5032-1A7B5DE96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17" y="999026"/>
            <a:ext cx="1887595" cy="106233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583D1BF-D001-5111-3C7C-CE6D38C3B4C7}"/>
              </a:ext>
            </a:extLst>
          </p:cNvPr>
          <p:cNvSpPr txBox="1"/>
          <p:nvPr/>
        </p:nvSpPr>
        <p:spPr>
          <a:xfrm>
            <a:off x="6480048" y="1269858"/>
            <a:ext cx="53114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An offline-first teacher companion delivering </a:t>
            </a:r>
            <a:r>
              <a:rPr lang="en-US" sz="1000" b="1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verified, JCERT/PALASH-aligned Class 1–5 content in Ho, Mundari &amp; Santali</a:t>
            </a:r>
            <a:r>
              <a:rPr lang="en-US" sz="1000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 —</a:t>
            </a:r>
            <a:r>
              <a:rPr lang="en-IN" sz="1000" dirty="0"/>
              <a:t>text, pronunciation guidance and AI-synthesized tribal-language audio</a:t>
            </a:r>
            <a:r>
              <a:rPr lang="en-US" sz="1000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— plus an </a:t>
            </a:r>
            <a:r>
              <a:rPr lang="en-US" sz="1000" b="1" i="0" u="none" kern="0" dirty="0">
                <a:solidFill>
                  <a:srgbClr val="F2570A"/>
                </a:solidFill>
                <a:latin typeface="Calibri"/>
                <a:ea typeface="Calibri"/>
                <a:cs typeface="Calibri"/>
              </a:rPr>
              <a:t>AI Scan &amp; Translate</a:t>
            </a:r>
            <a:r>
              <a:rPr lang="en-US" sz="1000" b="0" i="0" u="none" kern="0" dirty="0">
                <a:solidFill>
                  <a:srgbClr val="D8DDD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b="0" i="0" u="none" kern="0" dirty="0">
                <a:solidFill>
                  <a:srgbClr val="0B2E27"/>
                </a:solidFill>
                <a:latin typeface="Calibri"/>
                <a:ea typeface="Calibri"/>
                <a:cs typeface="Calibri"/>
              </a:rPr>
              <a:t>mode for anything outside the verified library, always honestly flagged.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CF44C02-B6A1-E187-ED2A-4EF5E0F1CAAC}"/>
              </a:ext>
            </a:extLst>
          </p:cNvPr>
          <p:cNvCxnSpPr/>
          <p:nvPr/>
        </p:nvCxnSpPr>
        <p:spPr>
          <a:xfrm>
            <a:off x="6351639" y="1249719"/>
            <a:ext cx="0" cy="581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D7BE1157-3D9A-D377-F1EF-2B05F02D3A2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3764" y="48388"/>
            <a:ext cx="407716" cy="407716"/>
          </a:xfrm>
          <a:prstGeom prst="rect">
            <a:avLst/>
          </a:prstGeom>
        </p:spPr>
      </p:pic>
      <p:sp>
        <p:nvSpPr>
          <p:cNvPr id="40" name="Rounded Rectangle 98">
            <a:extLst>
              <a:ext uri="{FF2B5EF4-FFF2-40B4-BE49-F238E27FC236}">
                <a16:creationId xmlns:a16="http://schemas.microsoft.com/office/drawing/2014/main" id="{AB3A78D3-0A3F-36C5-7DF5-96D4FFD5ACCF}"/>
              </a:ext>
            </a:extLst>
          </p:cNvPr>
          <p:cNvSpPr/>
          <p:nvPr/>
        </p:nvSpPr>
        <p:spPr>
          <a:xfrm>
            <a:off x="2802194" y="5900316"/>
            <a:ext cx="6657588" cy="415118"/>
          </a:xfrm>
          <a:prstGeom prst="roundRect">
            <a:avLst>
              <a:gd name="adj" fmla="val 19444"/>
            </a:avLst>
          </a:prstGeom>
          <a:solidFill>
            <a:srgbClr val="FA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 descr="Your startup LOGO">
            <a:extLst>
              <a:ext uri="{FF2B5EF4-FFF2-40B4-BE49-F238E27FC236}">
                <a16:creationId xmlns:a16="http://schemas.microsoft.com/office/drawing/2014/main" id="{DA3B845C-4F86-0DB4-EC6C-EA6E3639C9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31723" y="45757"/>
            <a:ext cx="1048294" cy="72259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FA798D78-CCA8-2E1E-0F93-261DF3A147A7}"/>
              </a:ext>
            </a:extLst>
          </p:cNvPr>
          <p:cNvSpPr/>
          <p:nvPr/>
        </p:nvSpPr>
        <p:spPr>
          <a:xfrm rot="16200000">
            <a:off x="2685714" y="46500"/>
            <a:ext cx="3678375" cy="782175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CAC61D-B8A4-E77F-B484-A6C0DDFBFA14}"/>
              </a:ext>
            </a:extLst>
          </p:cNvPr>
          <p:cNvSpPr txBox="1"/>
          <p:nvPr/>
        </p:nvSpPr>
        <p:spPr>
          <a:xfrm>
            <a:off x="2782529" y="5842327"/>
            <a:ext cx="8276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b="1" i="0" u="none" kern="0" spc="80" dirty="0">
                <a:solidFill>
                  <a:schemeClr val="accent2">
                    <a:lumMod val="50000"/>
                  </a:schemeClr>
                </a:solidFill>
                <a:latin typeface="Sitka Subheading Semibold" pitchFamily="2" charset="0"/>
                <a:ea typeface="Verdana" panose="020B0604030504040204" pitchFamily="34" charset="0"/>
                <a:cs typeface="Calibri"/>
              </a:rPr>
              <a:t>DEMO LINKS :-   </a:t>
            </a:r>
            <a:r>
              <a: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DLaM Display" panose="02010000000000000000" pitchFamily="2" charset="0"/>
              </a:rPr>
              <a:t>Teacher Webapp: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DLaM Display" panose="02010000000000000000" pitchFamily="2" charset="0"/>
              </a:rPr>
              <a:t>      </a:t>
            </a:r>
            <a:r>
              <a:rPr lang="en-US" sz="1400" dirty="0">
                <a:hlinkClick r:id="rId6"/>
              </a:rPr>
              <a:t>https://palashvani-sih26042.vercel.app</a:t>
            </a:r>
            <a:endParaRPr lang="en-US" sz="1400" dirty="0"/>
          </a:p>
          <a:p>
            <a:pPr lvl="0"/>
            <a:r>
              <a:rPr lang="en-US" sz="1400" b="1" dirty="0"/>
              <a:t>                                       </a:t>
            </a:r>
            <a:r>
              <a: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 Portal: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</a:t>
            </a:r>
            <a:r>
              <a:rPr lang="en-US" sz="1400" dirty="0">
                <a:hlinkClick r:id="rId7"/>
              </a:rPr>
              <a:t>https://palashvani-sih26042-admin.vercel.app</a:t>
            </a:r>
            <a:endParaRPr lang="en-US" sz="1400" dirty="0"/>
          </a:p>
          <a:p>
            <a:pPr>
              <a:buNone/>
            </a:pPr>
            <a:endParaRPr lang="en-US" sz="1400" b="1" i="1" u="sng" kern="0" spc="80" dirty="0">
              <a:solidFill>
                <a:srgbClr val="0062AC"/>
              </a:solidFill>
              <a:latin typeface="Sitka Subheading Semibold" pitchFamily="2" charset="0"/>
              <a:ea typeface="Verdana" panose="020B0604030504040204" pitchFamily="34" charset="0"/>
              <a:cs typeface="Calibri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F1B11B7-7DD0-205F-E8F3-FD40DC42E6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7" y="2251396"/>
            <a:ext cx="7788261" cy="345044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F8D16A6-56A1-758D-4444-FD6240D7FE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0027" y="2018786"/>
            <a:ext cx="1679528" cy="375483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8573C09-1090-EE7B-7643-3DDB3144CF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717" y="208202"/>
            <a:ext cx="974720" cy="38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7984</TotalTime>
  <Words>2198</Words>
  <Application>Microsoft Office PowerPoint</Application>
  <PresentationFormat>Widescreen</PresentationFormat>
  <Paragraphs>249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Arial</vt:lpstr>
      <vt:lpstr>Calibri</vt:lpstr>
      <vt:lpstr>Cambria</vt:lpstr>
      <vt:lpstr>Courier New</vt:lpstr>
      <vt:lpstr>Garamond</vt:lpstr>
      <vt:lpstr>Sitka Subheading Semibold</vt:lpstr>
      <vt:lpstr>Times New Roman</vt:lpstr>
      <vt:lpstr>TradeGothic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outlook_42C7F2E51DF9ADF3@outlook.com</cp:lastModifiedBy>
  <cp:revision>185</cp:revision>
  <dcterms:created xsi:type="dcterms:W3CDTF">2013-12-12T18:46:50Z</dcterms:created>
  <dcterms:modified xsi:type="dcterms:W3CDTF">2026-09-29T17:18:14Z</dcterms:modified>
  <cp:category/>
</cp:coreProperties>
</file>